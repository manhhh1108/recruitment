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4" r:id="rId11"/>
    <p:sldId id="267" r:id="rId12"/>
    <p:sldId id="268" r:id="rId13"/>
    <p:sldId id="269" r:id="rId14"/>
    <p:sldId id="272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100" d="100"/>
          <a:sy n="100" d="100"/>
        </p:scale>
        <p:origin x="58" y="-88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3931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0D9488"/>
                </a:solidFill>
                <a:latin typeface="Arial"/>
              </a:defRPr>
            </a:pPr>
            <a:r>
              <a:rPr dirty="0"/>
              <a:t>BÁO CÁO ĐỒ ÁN TỐT NGHIỆP</a:t>
            </a:r>
          </a:p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rPr dirty="0"/>
              <a:t>HỆ THỐNG WEBSITE</a:t>
            </a:r>
            <a:br>
              <a:rPr dirty="0"/>
            </a:br>
            <a:r>
              <a:rPr dirty="0"/>
              <a:t>TUYỂN DỤNG TRỰC TUYẾN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0" y="1645920"/>
            <a:ext cx="5943600" cy="2498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200" b="1">
                <a:solidFill>
                  <a:srgbClr val="2563EB"/>
                </a:solidFill>
                <a:latin typeface="Arial"/>
              </a:defRPr>
            </a:pPr>
            <a:r>
              <a:rPr dirty="0"/>
              <a:t>XÂY DỰNG HỆ THỐNG WEBSITE</a:t>
            </a:r>
            <a:br>
              <a:rPr dirty="0"/>
            </a:br>
            <a:r>
              <a:rPr dirty="0"/>
              <a:t>TUYỂN DỤNG TRỰC TUYẾN</a:t>
            </a:r>
          </a:p>
          <a:p>
            <a:pPr>
              <a:spcAft>
                <a:spcPts val="600"/>
              </a:spcAft>
              <a:defRPr sz="1400" b="1">
                <a:solidFill>
                  <a:srgbClr val="0F172A"/>
                </a:solidFill>
                <a:latin typeface="Arial"/>
              </a:defRPr>
            </a:pPr>
            <a:r>
              <a:rPr dirty="0"/>
              <a:t>Sinh </a:t>
            </a:r>
            <a:r>
              <a:rPr dirty="0" err="1"/>
              <a:t>viên</a:t>
            </a:r>
            <a:r>
              <a:rPr dirty="0"/>
              <a:t> </a:t>
            </a:r>
            <a:r>
              <a:rPr dirty="0" err="1"/>
              <a:t>thực</a:t>
            </a:r>
            <a:r>
              <a:rPr dirty="0"/>
              <a:t> </a:t>
            </a:r>
            <a:r>
              <a:rPr dirty="0" err="1"/>
              <a:t>hiện</a:t>
            </a:r>
            <a:r>
              <a:rPr dirty="0"/>
              <a:t>:  Nguyễn Văn A</a:t>
            </a:r>
          </a:p>
          <a:p>
            <a:pPr>
              <a:spcAft>
                <a:spcPts val="600"/>
              </a:spcAft>
              <a:defRPr sz="1400">
                <a:solidFill>
                  <a:srgbClr val="475569"/>
                </a:solidFill>
                <a:latin typeface="Arial"/>
              </a:defRPr>
            </a:pPr>
            <a:r>
              <a:rPr dirty="0" err="1"/>
              <a:t>Mã</a:t>
            </a:r>
            <a:r>
              <a:rPr dirty="0"/>
              <a:t> </a:t>
            </a:r>
            <a:r>
              <a:rPr dirty="0" err="1"/>
              <a:t>số</a:t>
            </a:r>
            <a:r>
              <a:rPr dirty="0"/>
              <a:t> </a:t>
            </a:r>
            <a:r>
              <a:rPr dirty="0" err="1"/>
              <a:t>sinh</a:t>
            </a:r>
            <a:r>
              <a:rPr dirty="0"/>
              <a:t> </a:t>
            </a:r>
            <a:r>
              <a:rPr dirty="0" err="1"/>
              <a:t>viên</a:t>
            </a:r>
            <a:r>
              <a:rPr dirty="0"/>
              <a:t>:      B1234567</a:t>
            </a:r>
          </a:p>
          <a:p>
            <a:pPr>
              <a:defRPr sz="1400" b="1">
                <a:solidFill>
                  <a:srgbClr val="0F172A"/>
                </a:solidFill>
                <a:latin typeface="Arial"/>
              </a:defRPr>
            </a:pPr>
            <a:r>
              <a:rPr dirty="0" err="1"/>
              <a:t>Giảng</a:t>
            </a:r>
            <a:r>
              <a:rPr dirty="0"/>
              <a:t> </a:t>
            </a:r>
            <a:r>
              <a:rPr dirty="0" err="1"/>
              <a:t>viên</a:t>
            </a:r>
            <a:r>
              <a:rPr dirty="0"/>
              <a:t> </a:t>
            </a:r>
            <a:r>
              <a:rPr dirty="0" err="1"/>
              <a:t>hướng</a:t>
            </a:r>
            <a:r>
              <a:rPr dirty="0"/>
              <a:t> </a:t>
            </a:r>
            <a:r>
              <a:rPr dirty="0" err="1"/>
              <a:t>dẫn</a:t>
            </a:r>
            <a:r>
              <a:rPr dirty="0"/>
              <a:t>: TS. Nguyễn Thị 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75569"/>
                </a:solidFill>
                <a:latin typeface="Arial"/>
              </a:defRPr>
            </a:pPr>
            <a:r>
              <a:rPr lang="en-US" dirty="0"/>
              <a:t>CHƯƠNG</a:t>
            </a:r>
            <a:r>
              <a:rPr dirty="0"/>
              <a:t> 1: TỔNG QUAN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rial"/>
              </a:defRPr>
            </a:pPr>
            <a:r>
              <a:rPr dirty="0" err="1"/>
              <a:t>Bài</a:t>
            </a:r>
            <a:r>
              <a:rPr dirty="0"/>
              <a:t> </a:t>
            </a:r>
            <a:r>
              <a:rPr dirty="0" err="1"/>
              <a:t>Toán</a:t>
            </a:r>
            <a:r>
              <a:rPr dirty="0"/>
              <a:t> </a:t>
            </a:r>
            <a:r>
              <a:rPr dirty="0" err="1"/>
              <a:t>Thực</a:t>
            </a:r>
            <a:r>
              <a:rPr dirty="0"/>
              <a:t> </a:t>
            </a:r>
            <a:r>
              <a:rPr dirty="0" err="1"/>
              <a:t>Tế</a:t>
            </a:r>
            <a:r>
              <a:rPr dirty="0"/>
              <a:t> &amp; </a:t>
            </a:r>
            <a:r>
              <a:rPr dirty="0" err="1"/>
              <a:t>Mục</a:t>
            </a:r>
            <a:r>
              <a:rPr dirty="0"/>
              <a:t> </a:t>
            </a:r>
            <a:r>
              <a:rPr dirty="0" err="1"/>
              <a:t>Tiêu</a:t>
            </a:r>
            <a:r>
              <a:rPr dirty="0"/>
              <a:t> </a:t>
            </a:r>
            <a:r>
              <a:rPr dirty="0" err="1"/>
              <a:t>Đề</a:t>
            </a:r>
            <a:r>
              <a:rPr dirty="0"/>
              <a:t> Tài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572000" cy="43138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spcAft>
                <a:spcPts val="800"/>
              </a:spcAft>
              <a:defRPr sz="1400">
                <a:solidFill>
                  <a:srgbClr val="475569"/>
                </a:solidFill>
                <a:latin typeface="Arial"/>
              </a:defRPr>
            </a:pPr>
            <a:r>
              <a:rPr dirty="0"/>
              <a:t>• </a:t>
            </a:r>
            <a:r>
              <a:rPr dirty="0" err="1"/>
              <a:t>Hồ</a:t>
            </a:r>
            <a:r>
              <a:rPr dirty="0"/>
              <a:t> </a:t>
            </a:r>
            <a:r>
              <a:rPr dirty="0" err="1"/>
              <a:t>sơ</a:t>
            </a:r>
            <a:r>
              <a:rPr dirty="0"/>
              <a:t>, CV </a:t>
            </a:r>
            <a:r>
              <a:rPr dirty="0" err="1"/>
              <a:t>cá</a:t>
            </a:r>
            <a:r>
              <a:rPr dirty="0"/>
              <a:t> </a:t>
            </a:r>
            <a:r>
              <a:rPr dirty="0" err="1"/>
              <a:t>nhân</a:t>
            </a:r>
            <a:r>
              <a:rPr dirty="0"/>
              <a:t> </a:t>
            </a:r>
            <a:r>
              <a:rPr dirty="0" err="1"/>
              <a:t>và</a:t>
            </a:r>
            <a:r>
              <a:rPr dirty="0"/>
              <a:t> </a:t>
            </a:r>
            <a:r>
              <a:rPr dirty="0" err="1"/>
              <a:t>lịch</a:t>
            </a:r>
            <a:r>
              <a:rPr dirty="0"/>
              <a:t> </a:t>
            </a:r>
            <a:r>
              <a:rPr dirty="0" err="1"/>
              <a:t>sử</a:t>
            </a:r>
            <a:r>
              <a:rPr dirty="0"/>
              <a:t> </a:t>
            </a:r>
            <a:r>
              <a:rPr dirty="0" err="1"/>
              <a:t>tương</a:t>
            </a:r>
            <a:r>
              <a:rPr dirty="0"/>
              <a:t> </a:t>
            </a:r>
            <a:r>
              <a:rPr dirty="0" err="1"/>
              <a:t>tác</a:t>
            </a:r>
            <a:r>
              <a:rPr dirty="0"/>
              <a:t> </a:t>
            </a:r>
            <a:r>
              <a:rPr dirty="0" err="1"/>
              <a:t>bị</a:t>
            </a:r>
            <a:r>
              <a:rPr dirty="0"/>
              <a:t> </a:t>
            </a:r>
            <a:r>
              <a:rPr dirty="0" err="1"/>
              <a:t>phân</a:t>
            </a:r>
            <a:r>
              <a:rPr dirty="0"/>
              <a:t> </a:t>
            </a:r>
            <a:r>
              <a:rPr dirty="0" err="1"/>
              <a:t>mảnh</a:t>
            </a:r>
            <a:r>
              <a:rPr dirty="0"/>
              <a:t> </a:t>
            </a:r>
            <a:r>
              <a:rPr dirty="0" err="1"/>
              <a:t>rải</a:t>
            </a:r>
            <a:r>
              <a:rPr dirty="0"/>
              <a:t> </a:t>
            </a:r>
            <a:r>
              <a:rPr dirty="0" err="1"/>
              <a:t>rác</a:t>
            </a:r>
            <a:r>
              <a:rPr dirty="0"/>
              <a:t> qua </a:t>
            </a:r>
            <a:r>
              <a:rPr dirty="0" err="1"/>
              <a:t>các</a:t>
            </a:r>
            <a:r>
              <a:rPr dirty="0"/>
              <a:t> </a:t>
            </a:r>
            <a:r>
              <a:rPr dirty="0" err="1"/>
              <a:t>kênh</a:t>
            </a:r>
            <a:r>
              <a:rPr dirty="0"/>
              <a:t> email hay </a:t>
            </a:r>
            <a:r>
              <a:rPr dirty="0" err="1"/>
              <a:t>tập</a:t>
            </a:r>
            <a:r>
              <a:rPr dirty="0"/>
              <a:t> tin </a:t>
            </a:r>
            <a:r>
              <a:rPr dirty="0" err="1"/>
              <a:t>rời</a:t>
            </a:r>
            <a:r>
              <a:rPr dirty="0"/>
              <a:t> </a:t>
            </a:r>
            <a:r>
              <a:rPr dirty="0" err="1"/>
              <a:t>rạc</a:t>
            </a:r>
            <a:r>
              <a:rPr dirty="0"/>
              <a:t>.</a:t>
            </a:r>
          </a:p>
          <a:p>
            <a:pPr>
              <a:lnSpc>
                <a:spcPct val="200000"/>
              </a:lnSpc>
              <a:spcAft>
                <a:spcPts val="800"/>
              </a:spcAft>
              <a:defRPr sz="1400">
                <a:solidFill>
                  <a:srgbClr val="475569"/>
                </a:solidFill>
                <a:latin typeface="Arial"/>
              </a:defRPr>
            </a:pPr>
            <a:r>
              <a:rPr dirty="0"/>
              <a:t>• </a:t>
            </a:r>
            <a:r>
              <a:rPr dirty="0" err="1"/>
              <a:t>Nhà</a:t>
            </a:r>
            <a:r>
              <a:rPr dirty="0"/>
              <a:t> </a:t>
            </a:r>
            <a:r>
              <a:rPr dirty="0" err="1"/>
              <a:t>tuyển</a:t>
            </a:r>
            <a:r>
              <a:rPr dirty="0"/>
              <a:t> </a:t>
            </a:r>
            <a:r>
              <a:rPr dirty="0" err="1"/>
              <a:t>dụng</a:t>
            </a:r>
            <a:r>
              <a:rPr dirty="0"/>
              <a:t> </a:t>
            </a:r>
            <a:r>
              <a:rPr dirty="0" err="1"/>
              <a:t>tốn</a:t>
            </a:r>
            <a:r>
              <a:rPr dirty="0"/>
              <a:t> </a:t>
            </a:r>
            <a:r>
              <a:rPr dirty="0" err="1"/>
              <a:t>nhiều</a:t>
            </a:r>
            <a:r>
              <a:rPr dirty="0"/>
              <a:t> </a:t>
            </a:r>
            <a:r>
              <a:rPr dirty="0" err="1"/>
              <a:t>thời</a:t>
            </a:r>
            <a:r>
              <a:rPr dirty="0"/>
              <a:t> </a:t>
            </a:r>
            <a:r>
              <a:rPr dirty="0" err="1"/>
              <a:t>gian</a:t>
            </a:r>
            <a:r>
              <a:rPr dirty="0"/>
              <a:t> </a:t>
            </a:r>
            <a:r>
              <a:rPr dirty="0" err="1"/>
              <a:t>tổng</a:t>
            </a:r>
            <a:r>
              <a:rPr dirty="0"/>
              <a:t> </a:t>
            </a:r>
            <a:r>
              <a:rPr dirty="0" err="1"/>
              <a:t>hợp</a:t>
            </a:r>
            <a:r>
              <a:rPr dirty="0"/>
              <a:t>, </a:t>
            </a:r>
            <a:r>
              <a:rPr dirty="0" err="1"/>
              <a:t>sàng</a:t>
            </a:r>
            <a:r>
              <a:rPr dirty="0"/>
              <a:t> </a:t>
            </a:r>
            <a:r>
              <a:rPr dirty="0" err="1"/>
              <a:t>lọc</a:t>
            </a:r>
            <a:r>
              <a:rPr dirty="0"/>
              <a:t> </a:t>
            </a:r>
            <a:r>
              <a:rPr dirty="0" err="1"/>
              <a:t>và</a:t>
            </a:r>
            <a:r>
              <a:rPr dirty="0"/>
              <a:t> </a:t>
            </a:r>
            <a:r>
              <a:rPr dirty="0" err="1"/>
              <a:t>phản</a:t>
            </a:r>
            <a:r>
              <a:rPr dirty="0"/>
              <a:t> </a:t>
            </a:r>
            <a:r>
              <a:rPr dirty="0" err="1"/>
              <a:t>hồi</a:t>
            </a:r>
            <a:r>
              <a:rPr dirty="0"/>
              <a:t> </a:t>
            </a:r>
            <a:r>
              <a:rPr dirty="0" err="1"/>
              <a:t>thủ</a:t>
            </a:r>
            <a:r>
              <a:rPr dirty="0"/>
              <a:t> </a:t>
            </a:r>
            <a:r>
              <a:rPr dirty="0" err="1"/>
              <a:t>công</a:t>
            </a:r>
            <a:r>
              <a:rPr dirty="0"/>
              <a:t> </a:t>
            </a:r>
            <a:r>
              <a:rPr dirty="0" err="1"/>
              <a:t>từng</a:t>
            </a:r>
            <a:r>
              <a:rPr dirty="0"/>
              <a:t> </a:t>
            </a:r>
            <a:r>
              <a:rPr dirty="0" err="1"/>
              <a:t>hồ</a:t>
            </a:r>
            <a:r>
              <a:rPr dirty="0"/>
              <a:t> </a:t>
            </a:r>
            <a:r>
              <a:rPr dirty="0" err="1"/>
              <a:t>sơ</a:t>
            </a:r>
            <a:r>
              <a:rPr dirty="0"/>
              <a:t>.</a:t>
            </a:r>
          </a:p>
          <a:p>
            <a:pPr>
              <a:lnSpc>
                <a:spcPct val="200000"/>
              </a:lnSpc>
              <a:spcAft>
                <a:spcPts val="800"/>
              </a:spcAft>
              <a:defRPr sz="1400">
                <a:solidFill>
                  <a:srgbClr val="475569"/>
                </a:solidFill>
                <a:latin typeface="Arial"/>
              </a:defRPr>
            </a:pPr>
            <a:r>
              <a:rPr dirty="0"/>
              <a:t>• Quản </a:t>
            </a:r>
            <a:r>
              <a:rPr dirty="0" err="1"/>
              <a:t>trị</a:t>
            </a:r>
            <a:r>
              <a:rPr dirty="0"/>
              <a:t> </a:t>
            </a:r>
            <a:r>
              <a:rPr dirty="0" err="1"/>
              <a:t>viên</a:t>
            </a:r>
            <a:r>
              <a:rPr dirty="0"/>
              <a:t> </a:t>
            </a:r>
            <a:r>
              <a:rPr dirty="0" err="1"/>
              <a:t>thiếu</a:t>
            </a:r>
            <a:r>
              <a:rPr dirty="0"/>
              <a:t> </a:t>
            </a:r>
            <a:r>
              <a:rPr dirty="0" err="1"/>
              <a:t>công</a:t>
            </a:r>
            <a:r>
              <a:rPr dirty="0"/>
              <a:t> </a:t>
            </a:r>
            <a:r>
              <a:rPr dirty="0" err="1"/>
              <a:t>cụ</a:t>
            </a:r>
            <a:r>
              <a:rPr dirty="0"/>
              <a:t> </a:t>
            </a:r>
            <a:r>
              <a:rPr dirty="0" err="1"/>
              <a:t>giám</a:t>
            </a:r>
            <a:r>
              <a:rPr dirty="0"/>
              <a:t> </a:t>
            </a:r>
            <a:r>
              <a:rPr dirty="0" err="1"/>
              <a:t>sát</a:t>
            </a:r>
            <a:r>
              <a:rPr dirty="0"/>
              <a:t> </a:t>
            </a:r>
            <a:r>
              <a:rPr dirty="0" err="1"/>
              <a:t>tập</a:t>
            </a:r>
            <a:r>
              <a:rPr dirty="0"/>
              <a:t> </a:t>
            </a:r>
            <a:r>
              <a:rPr dirty="0" err="1"/>
              <a:t>trung</a:t>
            </a:r>
            <a:r>
              <a:rPr dirty="0"/>
              <a:t> </a:t>
            </a:r>
            <a:r>
              <a:rPr dirty="0" err="1"/>
              <a:t>tài</a:t>
            </a:r>
            <a:r>
              <a:rPr dirty="0"/>
              <a:t> </a:t>
            </a:r>
            <a:r>
              <a:rPr dirty="0" err="1"/>
              <a:t>khoản</a:t>
            </a:r>
            <a:r>
              <a:rPr dirty="0"/>
              <a:t> </a:t>
            </a:r>
            <a:r>
              <a:rPr dirty="0" err="1"/>
              <a:t>và</a:t>
            </a:r>
            <a:r>
              <a:rPr dirty="0"/>
              <a:t> </a:t>
            </a:r>
            <a:r>
              <a:rPr dirty="0" err="1"/>
              <a:t>lịch</a:t>
            </a:r>
            <a:r>
              <a:rPr dirty="0"/>
              <a:t> </a:t>
            </a:r>
            <a:r>
              <a:rPr dirty="0" err="1"/>
              <a:t>sử</a:t>
            </a:r>
            <a:r>
              <a:rPr dirty="0"/>
              <a:t> </a:t>
            </a:r>
            <a:r>
              <a:rPr dirty="0" err="1"/>
              <a:t>vận</a:t>
            </a:r>
            <a:r>
              <a:rPr dirty="0"/>
              <a:t> </a:t>
            </a:r>
            <a:r>
              <a:rPr dirty="0" err="1"/>
              <a:t>hành</a:t>
            </a:r>
            <a:r>
              <a:rPr dirty="0"/>
              <a:t> </a:t>
            </a:r>
            <a:r>
              <a:rPr dirty="0" err="1"/>
              <a:t>hệ</a:t>
            </a:r>
            <a:r>
              <a:rPr dirty="0"/>
              <a:t> </a:t>
            </a:r>
            <a:r>
              <a:rPr dirty="0" err="1"/>
              <a:t>thống</a:t>
            </a:r>
            <a:r>
              <a:rPr dirty="0"/>
              <a:t>.</a:t>
            </a:r>
            <a:endParaRPr lang="en-US" dirty="0"/>
          </a:p>
          <a:p>
            <a:pPr>
              <a:lnSpc>
                <a:spcPct val="200000"/>
              </a:lnSpc>
              <a:spcAft>
                <a:spcPts val="800"/>
              </a:spcAft>
              <a:defRPr sz="1400">
                <a:solidFill>
                  <a:srgbClr val="475569"/>
                </a:solidFill>
                <a:latin typeface="Arial"/>
              </a:defRPr>
            </a:pPr>
            <a:r>
              <a:rPr lang="vi-VN" dirty="0"/>
              <a:t>• Ứng viên khó tìm kiếm việc làm phù hợp và không theo dõi được sát sao trạng thái hồ sơ của mình.</a:t>
            </a:r>
          </a:p>
          <a:p>
            <a:pPr>
              <a:lnSpc>
                <a:spcPct val="200000"/>
              </a:lnSpc>
              <a:spcAft>
                <a:spcPts val="800"/>
              </a:spcAft>
              <a:defRPr sz="1400">
                <a:solidFill>
                  <a:srgbClr val="475569"/>
                </a:solidFill>
                <a:latin typeface="Arial"/>
              </a:defRPr>
            </a:pPr>
            <a:endParaRPr dirty="0"/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0" y="1828800"/>
            <a:ext cx="4572000" cy="43138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spcAft>
                <a:spcPts val="800"/>
              </a:spcAft>
              <a:defRPr sz="1400">
                <a:solidFill>
                  <a:srgbClr val="475569"/>
                </a:solidFill>
                <a:latin typeface="Arial"/>
              </a:defRPr>
            </a:pPr>
            <a:r>
              <a:rPr dirty="0"/>
              <a:t>• </a:t>
            </a:r>
            <a:r>
              <a:rPr dirty="0" err="1"/>
              <a:t>Phân</a:t>
            </a:r>
            <a:r>
              <a:rPr dirty="0"/>
              <a:t> </a:t>
            </a:r>
            <a:r>
              <a:rPr dirty="0" err="1"/>
              <a:t>quyền</a:t>
            </a:r>
            <a:r>
              <a:rPr dirty="0"/>
              <a:t> </a:t>
            </a:r>
            <a:r>
              <a:rPr dirty="0" err="1"/>
              <a:t>rõ</a:t>
            </a:r>
            <a:r>
              <a:rPr dirty="0"/>
              <a:t> </a:t>
            </a:r>
            <a:r>
              <a:rPr dirty="0" err="1"/>
              <a:t>ràng</a:t>
            </a:r>
            <a:r>
              <a:rPr dirty="0"/>
              <a:t>, </a:t>
            </a:r>
            <a:r>
              <a:rPr dirty="0" err="1"/>
              <a:t>tối</a:t>
            </a:r>
            <a:r>
              <a:rPr dirty="0"/>
              <a:t> </a:t>
            </a:r>
            <a:r>
              <a:rPr dirty="0" err="1"/>
              <a:t>ưu</a:t>
            </a:r>
            <a:r>
              <a:rPr dirty="0"/>
              <a:t> </a:t>
            </a:r>
            <a:r>
              <a:rPr dirty="0" err="1"/>
              <a:t>trải</a:t>
            </a:r>
            <a:r>
              <a:rPr dirty="0"/>
              <a:t> </a:t>
            </a:r>
            <a:r>
              <a:rPr dirty="0" err="1"/>
              <a:t>nghiệm</a:t>
            </a:r>
            <a:r>
              <a:rPr dirty="0"/>
              <a:t> </a:t>
            </a:r>
            <a:r>
              <a:rPr dirty="0" err="1"/>
              <a:t>tương</a:t>
            </a:r>
            <a:r>
              <a:rPr dirty="0"/>
              <a:t> </a:t>
            </a:r>
            <a:r>
              <a:rPr dirty="0" err="1"/>
              <a:t>tác</a:t>
            </a:r>
            <a:r>
              <a:rPr dirty="0"/>
              <a:t> </a:t>
            </a:r>
            <a:r>
              <a:rPr dirty="0" err="1"/>
              <a:t>trực</a:t>
            </a:r>
            <a:r>
              <a:rPr dirty="0"/>
              <a:t> </a:t>
            </a:r>
            <a:r>
              <a:rPr dirty="0" err="1"/>
              <a:t>tuyến</a:t>
            </a:r>
            <a:r>
              <a:rPr dirty="0"/>
              <a:t> </a:t>
            </a:r>
            <a:r>
              <a:rPr dirty="0" err="1"/>
              <a:t>cho</a:t>
            </a:r>
            <a:r>
              <a:rPr dirty="0"/>
              <a:t> </a:t>
            </a:r>
            <a:r>
              <a:rPr dirty="0" err="1"/>
              <a:t>từng</a:t>
            </a:r>
            <a:r>
              <a:rPr dirty="0"/>
              <a:t> </a:t>
            </a:r>
            <a:r>
              <a:rPr dirty="0" err="1"/>
              <a:t>vai</a:t>
            </a:r>
            <a:r>
              <a:rPr dirty="0"/>
              <a:t> </a:t>
            </a:r>
            <a:r>
              <a:rPr dirty="0" err="1"/>
              <a:t>trò</a:t>
            </a:r>
            <a:r>
              <a:rPr dirty="0"/>
              <a:t> </a:t>
            </a:r>
            <a:r>
              <a:rPr dirty="0" err="1"/>
              <a:t>người</a:t>
            </a:r>
            <a:r>
              <a:rPr dirty="0"/>
              <a:t> </a:t>
            </a:r>
            <a:r>
              <a:rPr dirty="0" err="1"/>
              <a:t>dùng</a:t>
            </a:r>
            <a:r>
              <a:rPr dirty="0"/>
              <a:t>.</a:t>
            </a:r>
          </a:p>
          <a:p>
            <a:pPr>
              <a:lnSpc>
                <a:spcPct val="200000"/>
              </a:lnSpc>
              <a:spcAft>
                <a:spcPts val="800"/>
              </a:spcAft>
              <a:defRPr sz="1400">
                <a:solidFill>
                  <a:srgbClr val="475569"/>
                </a:solidFill>
                <a:latin typeface="Arial"/>
              </a:defRPr>
            </a:pPr>
            <a:r>
              <a:rPr dirty="0"/>
              <a:t>• Quản </a:t>
            </a:r>
            <a:r>
              <a:rPr dirty="0" err="1"/>
              <a:t>lý</a:t>
            </a:r>
            <a:r>
              <a:rPr dirty="0"/>
              <a:t> </a:t>
            </a:r>
            <a:r>
              <a:rPr dirty="0" err="1"/>
              <a:t>tập</a:t>
            </a:r>
            <a:r>
              <a:rPr dirty="0"/>
              <a:t> </a:t>
            </a:r>
            <a:r>
              <a:rPr dirty="0" err="1"/>
              <a:t>trung</a:t>
            </a:r>
            <a:r>
              <a:rPr dirty="0"/>
              <a:t> </a:t>
            </a:r>
            <a:r>
              <a:rPr dirty="0" err="1"/>
              <a:t>toàn</a:t>
            </a:r>
            <a:r>
              <a:rPr dirty="0"/>
              <a:t> </a:t>
            </a:r>
            <a:r>
              <a:rPr dirty="0" err="1"/>
              <a:t>diện</a:t>
            </a:r>
            <a:r>
              <a:rPr dirty="0"/>
              <a:t> </a:t>
            </a:r>
            <a:r>
              <a:rPr dirty="0" err="1"/>
              <a:t>danh</a:t>
            </a:r>
            <a:r>
              <a:rPr dirty="0"/>
              <a:t> </a:t>
            </a:r>
            <a:r>
              <a:rPr dirty="0" err="1"/>
              <a:t>mục</a:t>
            </a:r>
            <a:r>
              <a:rPr dirty="0"/>
              <a:t> </a:t>
            </a:r>
            <a:r>
              <a:rPr dirty="0" err="1"/>
              <a:t>việc</a:t>
            </a:r>
            <a:r>
              <a:rPr dirty="0"/>
              <a:t> </a:t>
            </a:r>
            <a:r>
              <a:rPr dirty="0" err="1"/>
              <a:t>làm</a:t>
            </a:r>
            <a:r>
              <a:rPr dirty="0"/>
              <a:t>, </a:t>
            </a:r>
            <a:r>
              <a:rPr dirty="0" err="1"/>
              <a:t>các</a:t>
            </a:r>
            <a:r>
              <a:rPr dirty="0"/>
              <a:t> </a:t>
            </a:r>
            <a:r>
              <a:rPr dirty="0" err="1"/>
              <a:t>phiên</a:t>
            </a:r>
            <a:r>
              <a:rPr dirty="0"/>
              <a:t> </a:t>
            </a:r>
            <a:r>
              <a:rPr dirty="0" err="1"/>
              <a:t>bản</a:t>
            </a:r>
            <a:r>
              <a:rPr dirty="0"/>
              <a:t> CV </a:t>
            </a:r>
            <a:r>
              <a:rPr dirty="0" err="1"/>
              <a:t>trực</a:t>
            </a:r>
            <a:r>
              <a:rPr dirty="0"/>
              <a:t> </a:t>
            </a:r>
            <a:r>
              <a:rPr dirty="0" err="1"/>
              <a:t>tuyến</a:t>
            </a:r>
            <a:r>
              <a:rPr dirty="0"/>
              <a:t> </a:t>
            </a:r>
            <a:r>
              <a:rPr dirty="0" err="1"/>
              <a:t>và</a:t>
            </a:r>
            <a:r>
              <a:rPr dirty="0"/>
              <a:t> pipeline </a:t>
            </a:r>
            <a:r>
              <a:rPr dirty="0" err="1"/>
              <a:t>hồ</a:t>
            </a:r>
            <a:r>
              <a:rPr dirty="0"/>
              <a:t> </a:t>
            </a:r>
            <a:r>
              <a:rPr dirty="0" err="1"/>
              <a:t>sơ</a:t>
            </a:r>
            <a:r>
              <a:rPr dirty="0"/>
              <a:t> </a:t>
            </a:r>
            <a:r>
              <a:rPr dirty="0" err="1"/>
              <a:t>ứng</a:t>
            </a:r>
            <a:r>
              <a:rPr dirty="0"/>
              <a:t> </a:t>
            </a:r>
            <a:r>
              <a:rPr dirty="0" err="1"/>
              <a:t>tuyển</a:t>
            </a:r>
            <a:r>
              <a:rPr dirty="0"/>
              <a:t>.</a:t>
            </a:r>
          </a:p>
          <a:p>
            <a:pPr>
              <a:lnSpc>
                <a:spcPct val="200000"/>
              </a:lnSpc>
              <a:spcAft>
                <a:spcPts val="800"/>
              </a:spcAft>
              <a:defRPr sz="1400">
                <a:solidFill>
                  <a:srgbClr val="475569"/>
                </a:solidFill>
                <a:latin typeface="Arial"/>
              </a:defRPr>
            </a:pPr>
            <a:r>
              <a:rPr dirty="0"/>
              <a:t>• </a:t>
            </a:r>
            <a:r>
              <a:rPr dirty="0" err="1"/>
              <a:t>Hỗ</a:t>
            </a:r>
            <a:r>
              <a:rPr dirty="0"/>
              <a:t> </a:t>
            </a:r>
            <a:r>
              <a:rPr dirty="0" err="1"/>
              <a:t>trợ</a:t>
            </a:r>
            <a:r>
              <a:rPr dirty="0"/>
              <a:t> </a:t>
            </a:r>
            <a:r>
              <a:rPr dirty="0" err="1"/>
              <a:t>phân</a:t>
            </a:r>
            <a:r>
              <a:rPr dirty="0"/>
              <a:t> </a:t>
            </a:r>
            <a:r>
              <a:rPr dirty="0" err="1"/>
              <a:t>tích</a:t>
            </a:r>
            <a:r>
              <a:rPr dirty="0"/>
              <a:t> </a:t>
            </a:r>
            <a:r>
              <a:rPr dirty="0" err="1"/>
              <a:t>thống</a:t>
            </a:r>
            <a:r>
              <a:rPr dirty="0"/>
              <a:t> </a:t>
            </a:r>
            <a:r>
              <a:rPr dirty="0" err="1"/>
              <a:t>kê</a:t>
            </a:r>
            <a:r>
              <a:rPr dirty="0"/>
              <a:t> </a:t>
            </a:r>
            <a:r>
              <a:rPr dirty="0" err="1"/>
              <a:t>dữ</a:t>
            </a:r>
            <a:r>
              <a:rPr dirty="0"/>
              <a:t> </a:t>
            </a:r>
            <a:r>
              <a:rPr dirty="0" err="1"/>
              <a:t>liệu</a:t>
            </a:r>
            <a:r>
              <a:rPr dirty="0"/>
              <a:t> </a:t>
            </a:r>
            <a:r>
              <a:rPr dirty="0" err="1"/>
              <a:t>trực</a:t>
            </a:r>
            <a:r>
              <a:rPr dirty="0"/>
              <a:t> </a:t>
            </a:r>
            <a:r>
              <a:rPr dirty="0" err="1"/>
              <a:t>quan</a:t>
            </a:r>
            <a:r>
              <a:rPr dirty="0"/>
              <a:t> </a:t>
            </a:r>
            <a:r>
              <a:rPr dirty="0" err="1"/>
              <a:t>giúp</a:t>
            </a:r>
            <a:r>
              <a:rPr dirty="0"/>
              <a:t> </a:t>
            </a:r>
            <a:r>
              <a:rPr dirty="0" err="1"/>
              <a:t>nhà</a:t>
            </a:r>
            <a:r>
              <a:rPr dirty="0"/>
              <a:t> </a:t>
            </a:r>
            <a:r>
              <a:rPr dirty="0" err="1"/>
              <a:t>tuyển</a:t>
            </a:r>
            <a:r>
              <a:rPr dirty="0"/>
              <a:t> </a:t>
            </a:r>
            <a:r>
              <a:rPr dirty="0" err="1"/>
              <a:t>dụng</a:t>
            </a:r>
            <a:r>
              <a:rPr dirty="0"/>
              <a:t> </a:t>
            </a:r>
            <a:r>
              <a:rPr dirty="0" err="1"/>
              <a:t>đưa</a:t>
            </a:r>
            <a:r>
              <a:rPr dirty="0"/>
              <a:t> </a:t>
            </a:r>
            <a:r>
              <a:rPr dirty="0" err="1"/>
              <a:t>ra</a:t>
            </a:r>
            <a:r>
              <a:rPr dirty="0"/>
              <a:t> </a:t>
            </a:r>
            <a:r>
              <a:rPr dirty="0" err="1"/>
              <a:t>quyết</a:t>
            </a:r>
            <a:r>
              <a:rPr dirty="0"/>
              <a:t> </a:t>
            </a:r>
            <a:r>
              <a:rPr dirty="0" err="1"/>
              <a:t>định</a:t>
            </a:r>
            <a:r>
              <a:rPr dirty="0"/>
              <a:t> </a:t>
            </a:r>
            <a:r>
              <a:rPr dirty="0" err="1"/>
              <a:t>nhanh</a:t>
            </a:r>
            <a:r>
              <a:rPr dirty="0"/>
              <a:t> </a:t>
            </a:r>
            <a:r>
              <a:rPr dirty="0" err="1"/>
              <a:t>chóng</a:t>
            </a:r>
            <a:r>
              <a:rPr dirty="0"/>
              <a:t>.</a:t>
            </a:r>
            <a:endParaRPr lang="en-US" dirty="0"/>
          </a:p>
          <a:p>
            <a:pPr>
              <a:lnSpc>
                <a:spcPct val="200000"/>
              </a:lnSpc>
              <a:spcAft>
                <a:spcPts val="800"/>
              </a:spcAft>
              <a:defRPr sz="1400">
                <a:solidFill>
                  <a:srgbClr val="475569"/>
                </a:solidFill>
                <a:latin typeface="Arial"/>
              </a:defRPr>
            </a:pPr>
            <a:r>
              <a:rPr lang="en-US" dirty="0"/>
              <a:t>•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hóa</a:t>
            </a:r>
            <a:r>
              <a:rPr lang="en-US" dirty="0"/>
              <a:t> </a:t>
            </a:r>
            <a:r>
              <a:rPr lang="en-US" dirty="0" err="1"/>
              <a:t>hoàn</a:t>
            </a:r>
            <a:r>
              <a:rPr lang="en-US" dirty="0"/>
              <a:t> </a:t>
            </a:r>
            <a:r>
              <a:rPr lang="en-US" dirty="0" err="1"/>
              <a:t>toàn</a:t>
            </a:r>
            <a:r>
              <a:rPr lang="en-US" dirty="0"/>
              <a:t> </a:t>
            </a:r>
            <a:r>
              <a:rPr lang="en-US" dirty="0" err="1"/>
              <a:t>quy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tuyển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quy</a:t>
            </a:r>
            <a:r>
              <a:rPr lang="en-US" dirty="0"/>
              <a:t> </a:t>
            </a:r>
            <a:r>
              <a:rPr lang="en-US" dirty="0" err="1"/>
              <a:t>nạp</a:t>
            </a:r>
            <a:r>
              <a:rPr lang="en-US" dirty="0"/>
              <a:t> </a:t>
            </a:r>
            <a:r>
              <a:rPr lang="en-US" dirty="0" err="1"/>
              <a:t>luồng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</a:t>
            </a:r>
            <a:r>
              <a:rPr lang="en-US" dirty="0" err="1"/>
              <a:t>nhất</a:t>
            </a:r>
            <a:r>
              <a:rPr lang="en-US" dirty="0"/>
              <a:t> </a:t>
            </a:r>
            <a:r>
              <a:rPr lang="en-US" dirty="0" err="1"/>
              <a:t>quán</a:t>
            </a:r>
            <a:r>
              <a:rPr lang="en-US" dirty="0"/>
              <a:t>.</a:t>
            </a:r>
          </a:p>
          <a:p>
            <a:pPr>
              <a:lnSpc>
                <a:spcPct val="200000"/>
              </a:lnSpc>
              <a:spcAft>
                <a:spcPts val="800"/>
              </a:spcAft>
              <a:defRPr sz="1400">
                <a:solidFill>
                  <a:srgbClr val="475569"/>
                </a:solidFill>
                <a:latin typeface="Arial"/>
              </a:defRPr>
            </a:pP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75569"/>
                </a:solidFill>
                <a:latin typeface="Arial"/>
              </a:defRPr>
            </a:pPr>
            <a:r>
              <a:rPr lang="en-US" dirty="0"/>
              <a:t>CHƯƠNG</a:t>
            </a:r>
            <a:r>
              <a:rPr dirty="0"/>
              <a:t> 1: TỔNG QUAN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rial"/>
              </a:defRPr>
            </a:pPr>
            <a:r>
              <a:rPr dirty="0" err="1"/>
              <a:t>Nhóm</a:t>
            </a:r>
            <a:r>
              <a:rPr dirty="0"/>
              <a:t> </a:t>
            </a:r>
            <a:r>
              <a:rPr dirty="0" err="1"/>
              <a:t>Đối</a:t>
            </a:r>
            <a:r>
              <a:rPr dirty="0"/>
              <a:t> </a:t>
            </a:r>
            <a:r>
              <a:rPr dirty="0" err="1"/>
              <a:t>Tượng</a:t>
            </a:r>
            <a:r>
              <a:rPr dirty="0"/>
              <a:t> </a:t>
            </a:r>
            <a:r>
              <a:rPr dirty="0" err="1"/>
              <a:t>Sử</a:t>
            </a:r>
            <a:r>
              <a:rPr dirty="0"/>
              <a:t> </a:t>
            </a:r>
            <a:r>
              <a:rPr dirty="0" err="1"/>
              <a:t>Dụng</a:t>
            </a:r>
            <a:r>
              <a:rPr dirty="0"/>
              <a:t> </a:t>
            </a:r>
            <a:r>
              <a:rPr dirty="0" err="1"/>
              <a:t>Hệ</a:t>
            </a:r>
            <a:r>
              <a:rPr dirty="0"/>
              <a:t> </a:t>
            </a:r>
            <a:r>
              <a:rPr dirty="0" err="1"/>
              <a:t>Thống</a:t>
            </a:r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2468880" cy="38404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2194560"/>
            <a:ext cx="21945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2563EB"/>
                </a:solidFill>
                <a:latin typeface="Arial"/>
              </a:defRPr>
            </a:pPr>
            <a:r>
              <a:t>Khách Truy Cập</a:t>
            </a:r>
          </a:p>
          <a:p>
            <a:pPr>
              <a:lnSpc>
                <a:spcPct val="130000"/>
              </a:lnSpc>
              <a:defRPr sz="1300">
                <a:solidFill>
                  <a:srgbClr val="475569"/>
                </a:solidFill>
                <a:latin typeface="Arial"/>
              </a:defRPr>
            </a:pPr>
            <a:r>
              <a:t>Tìm kiếm, lọc tin tuyển dụng. Xem doanh nghiệp nổi bật và đăng ký tài khoản nhanh chóng theo vai trò.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2011680"/>
            <a:ext cx="2468880" cy="38404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11880" y="2194560"/>
            <a:ext cx="21945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D9488"/>
                </a:solidFill>
                <a:latin typeface="Arial"/>
              </a:defRPr>
            </a:pPr>
            <a:r>
              <a:t>Ứng Viên</a:t>
            </a:r>
          </a:p>
          <a:p>
            <a:pPr>
              <a:lnSpc>
                <a:spcPct val="130000"/>
              </a:lnSpc>
              <a:defRPr sz="1300">
                <a:solidFill>
                  <a:srgbClr val="475569"/>
                </a:solidFill>
                <a:latin typeface="Arial"/>
              </a:defRPr>
            </a:pPr>
            <a:r>
              <a:t>Tạo &amp; quản lý nhiều phiên bản CV trực tuyến, ứng tuyển, nhận phản hồi trạng thái tuyển dụng thời gian thực.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011680"/>
            <a:ext cx="2468880" cy="38404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55080" y="2194560"/>
            <a:ext cx="21945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F172A"/>
                </a:solidFill>
                <a:latin typeface="Arial"/>
              </a:defRPr>
            </a:pPr>
            <a:r>
              <a:t>Nhà Tuyển Dụng</a:t>
            </a:r>
          </a:p>
          <a:p>
            <a:pPr>
              <a:lnSpc>
                <a:spcPct val="130000"/>
              </a:lnSpc>
              <a:defRPr sz="1300">
                <a:solidFill>
                  <a:srgbClr val="475569"/>
                </a:solidFill>
                <a:latin typeface="Arial"/>
              </a:defRPr>
            </a:pPr>
            <a:r>
              <a:t>Đăng tin, quản lý chiến dịch tuyển dụng, cập nhật pipeline trạng thái hồ sơ và xem biểu đồ phân tích.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2011680"/>
            <a:ext cx="2468880" cy="38404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098280" y="2194560"/>
            <a:ext cx="21945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475569"/>
                </a:solidFill>
                <a:latin typeface="Arial"/>
              </a:defRPr>
            </a:pPr>
            <a:r>
              <a:t>Quản Trị Viên</a:t>
            </a:r>
          </a:p>
          <a:p>
            <a:pPr>
              <a:lnSpc>
                <a:spcPct val="130000"/>
              </a:lnSpc>
              <a:defRPr sz="1300">
                <a:solidFill>
                  <a:srgbClr val="475569"/>
                </a:solidFill>
                <a:latin typeface="Arial"/>
              </a:defRPr>
            </a:pPr>
            <a:r>
              <a:t>Kiểm soát an toàn bảo mật, kích hoạt/khóa tài khoản, quản lý danh mục và giám sát nhật ký hành động (Audit Logs).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75569"/>
                </a:solidFill>
                <a:latin typeface="Arial"/>
              </a:defRPr>
            </a:pPr>
            <a:r>
              <a:rPr lang="en-US" dirty="0"/>
              <a:t>CHƯƠNG</a:t>
            </a:r>
            <a:r>
              <a:rPr dirty="0"/>
              <a:t> 2: TÍNH NĂNG NGHIỆP VỤ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rial"/>
              </a:defRPr>
            </a:pPr>
            <a:r>
              <a:t>Chức Năng Chung &amp; Cơ Chế Xác Thực API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" y="1776066"/>
            <a:ext cx="4187952" cy="3781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1200"/>
              </a:spcAft>
              <a:defRPr sz="1500">
                <a:solidFill>
                  <a:srgbClr val="475569"/>
                </a:solidFill>
                <a:latin typeface="Arial"/>
              </a:defRPr>
            </a:pPr>
            <a:r>
              <a:rPr dirty="0"/>
              <a:t>• </a:t>
            </a:r>
            <a:r>
              <a:rPr dirty="0" err="1"/>
              <a:t>Đăng</a:t>
            </a:r>
            <a:r>
              <a:rPr dirty="0"/>
              <a:t> </a:t>
            </a:r>
            <a:r>
              <a:rPr dirty="0" err="1"/>
              <a:t>ký</a:t>
            </a:r>
            <a:r>
              <a:rPr dirty="0"/>
              <a:t> </a:t>
            </a:r>
            <a:r>
              <a:rPr dirty="0" err="1"/>
              <a:t>tài</a:t>
            </a:r>
            <a:r>
              <a:rPr dirty="0"/>
              <a:t> </a:t>
            </a:r>
            <a:r>
              <a:rPr dirty="0" err="1"/>
              <a:t>khoản</a:t>
            </a:r>
            <a:r>
              <a:rPr dirty="0"/>
              <a:t> </a:t>
            </a:r>
            <a:r>
              <a:rPr dirty="0" err="1"/>
              <a:t>linh</a:t>
            </a:r>
            <a:r>
              <a:rPr dirty="0"/>
              <a:t> </a:t>
            </a:r>
            <a:r>
              <a:rPr dirty="0" err="1"/>
              <a:t>hoạt</a:t>
            </a:r>
            <a:r>
              <a:rPr dirty="0"/>
              <a:t> </a:t>
            </a:r>
            <a:r>
              <a:rPr dirty="0" err="1"/>
              <a:t>cho</a:t>
            </a:r>
            <a:r>
              <a:rPr dirty="0"/>
              <a:t> </a:t>
            </a:r>
            <a:r>
              <a:rPr dirty="0" err="1"/>
              <a:t>Ứng</a:t>
            </a:r>
            <a:r>
              <a:rPr dirty="0"/>
              <a:t> </a:t>
            </a:r>
            <a:r>
              <a:rPr dirty="0" err="1"/>
              <a:t>viên</a:t>
            </a:r>
            <a:r>
              <a:rPr dirty="0"/>
              <a:t> </a:t>
            </a:r>
            <a:r>
              <a:rPr dirty="0" err="1"/>
              <a:t>và</a:t>
            </a:r>
            <a:r>
              <a:rPr dirty="0"/>
              <a:t> </a:t>
            </a:r>
            <a:r>
              <a:rPr dirty="0" err="1"/>
              <a:t>Nhà</a:t>
            </a:r>
            <a:r>
              <a:rPr dirty="0"/>
              <a:t> </a:t>
            </a:r>
            <a:r>
              <a:rPr dirty="0" err="1"/>
              <a:t>tuyển</a:t>
            </a:r>
            <a:r>
              <a:rPr dirty="0"/>
              <a:t> </a:t>
            </a:r>
            <a:r>
              <a:rPr dirty="0" err="1"/>
              <a:t>dụng</a:t>
            </a:r>
            <a:endParaRPr dirty="0"/>
          </a:p>
          <a:p>
            <a:pPr algn="just">
              <a:lnSpc>
                <a:spcPct val="150000"/>
              </a:lnSpc>
              <a:spcAft>
                <a:spcPts val="1200"/>
              </a:spcAft>
              <a:defRPr sz="1500">
                <a:solidFill>
                  <a:srgbClr val="475569"/>
                </a:solidFill>
                <a:latin typeface="Arial"/>
              </a:defRPr>
            </a:pPr>
            <a:r>
              <a:rPr dirty="0"/>
              <a:t>• Bảo </a:t>
            </a:r>
            <a:r>
              <a:rPr dirty="0" err="1"/>
              <a:t>mật</a:t>
            </a:r>
            <a:r>
              <a:rPr dirty="0"/>
              <a:t> Stateless API</a:t>
            </a:r>
            <a:endParaRPr lang="en-US" dirty="0"/>
          </a:p>
          <a:p>
            <a:pPr algn="just">
              <a:lnSpc>
                <a:spcPct val="150000"/>
              </a:lnSpc>
              <a:spcAft>
                <a:spcPts val="1200"/>
              </a:spcAft>
              <a:defRPr sz="1500">
                <a:solidFill>
                  <a:srgbClr val="475569"/>
                </a:solidFill>
                <a:latin typeface="Arial"/>
              </a:defRPr>
            </a:pPr>
            <a:r>
              <a:rPr dirty="0"/>
              <a:t>• </a:t>
            </a:r>
            <a:r>
              <a:rPr dirty="0" err="1"/>
              <a:t>Cơ</a:t>
            </a:r>
            <a:r>
              <a:rPr dirty="0"/>
              <a:t> </a:t>
            </a:r>
            <a:r>
              <a:rPr dirty="0" err="1"/>
              <a:t>chế</a:t>
            </a:r>
            <a:r>
              <a:rPr dirty="0"/>
              <a:t> </a:t>
            </a:r>
            <a:r>
              <a:rPr dirty="0" err="1"/>
              <a:t>tự</a:t>
            </a:r>
            <a:r>
              <a:rPr dirty="0"/>
              <a:t> </a:t>
            </a:r>
            <a:r>
              <a:rPr dirty="0" err="1"/>
              <a:t>động</a:t>
            </a:r>
            <a:r>
              <a:rPr dirty="0"/>
              <a:t> </a:t>
            </a:r>
            <a:r>
              <a:rPr dirty="0" err="1"/>
              <a:t>làm</a:t>
            </a:r>
            <a:r>
              <a:rPr dirty="0"/>
              <a:t> </a:t>
            </a:r>
            <a:r>
              <a:rPr dirty="0" err="1"/>
              <a:t>mới</a:t>
            </a:r>
            <a:r>
              <a:rPr dirty="0"/>
              <a:t> Token (Refresh Token).</a:t>
            </a:r>
          </a:p>
          <a:p>
            <a:pPr algn="just">
              <a:lnSpc>
                <a:spcPct val="150000"/>
              </a:lnSpc>
              <a:spcAft>
                <a:spcPts val="1200"/>
              </a:spcAft>
              <a:defRPr sz="1500">
                <a:solidFill>
                  <a:srgbClr val="475569"/>
                </a:solidFill>
                <a:latin typeface="Arial"/>
              </a:defRPr>
            </a:pPr>
            <a:r>
              <a:rPr dirty="0"/>
              <a:t>• </a:t>
            </a:r>
            <a:r>
              <a:rPr dirty="0" err="1"/>
              <a:t>Kiểm</a:t>
            </a:r>
            <a:r>
              <a:rPr dirty="0"/>
              <a:t> </a:t>
            </a:r>
            <a:r>
              <a:rPr dirty="0" err="1"/>
              <a:t>tra</a:t>
            </a:r>
            <a:r>
              <a:rPr dirty="0"/>
              <a:t> </a:t>
            </a:r>
            <a:r>
              <a:rPr dirty="0" err="1"/>
              <a:t>phân</a:t>
            </a:r>
            <a:r>
              <a:rPr dirty="0"/>
              <a:t> </a:t>
            </a:r>
            <a:r>
              <a:rPr dirty="0" err="1"/>
              <a:t>quyền</a:t>
            </a:r>
            <a:r>
              <a:rPr dirty="0"/>
              <a:t> </a:t>
            </a:r>
            <a:r>
              <a:rPr dirty="0" err="1"/>
              <a:t>chặt</a:t>
            </a:r>
            <a:r>
              <a:rPr dirty="0"/>
              <a:t> </a:t>
            </a:r>
            <a:r>
              <a:rPr dirty="0" err="1"/>
              <a:t>chẽ</a:t>
            </a:r>
            <a:r>
              <a:rPr dirty="0"/>
              <a:t> </a:t>
            </a:r>
            <a:endParaRPr lang="en-US" dirty="0"/>
          </a:p>
          <a:p>
            <a:pPr algn="just">
              <a:lnSpc>
                <a:spcPct val="150000"/>
              </a:lnSpc>
              <a:spcAft>
                <a:spcPts val="1200"/>
              </a:spcAft>
              <a:defRPr sz="1500">
                <a:solidFill>
                  <a:srgbClr val="475569"/>
                </a:solidFill>
                <a:latin typeface="Arial"/>
              </a:defRPr>
            </a:pPr>
            <a:r>
              <a:rPr dirty="0"/>
              <a:t>• </a:t>
            </a:r>
            <a:r>
              <a:rPr dirty="0" err="1"/>
              <a:t>Khóa</a:t>
            </a:r>
            <a:r>
              <a:rPr dirty="0"/>
              <a:t> </a:t>
            </a:r>
            <a:r>
              <a:rPr dirty="0" err="1"/>
              <a:t>tài</a:t>
            </a:r>
            <a:r>
              <a:rPr dirty="0"/>
              <a:t> </a:t>
            </a:r>
            <a:r>
              <a:rPr dirty="0" err="1"/>
              <a:t>khoản</a:t>
            </a:r>
            <a:r>
              <a:rPr dirty="0"/>
              <a:t> vi </a:t>
            </a:r>
            <a:r>
              <a:rPr dirty="0" err="1"/>
              <a:t>phạm</a:t>
            </a:r>
            <a:r>
              <a:rPr dirty="0"/>
              <a:t> </a:t>
            </a:r>
            <a:r>
              <a:rPr dirty="0" err="1"/>
              <a:t>tức</a:t>
            </a:r>
            <a:r>
              <a:rPr dirty="0"/>
              <a:t> </a:t>
            </a:r>
            <a:r>
              <a:rPr dirty="0" err="1"/>
              <a:t>thì</a:t>
            </a:r>
            <a:r>
              <a:rPr dirty="0"/>
              <a:t>, </a:t>
            </a:r>
            <a:r>
              <a:rPr dirty="0" err="1"/>
              <a:t>đồng</a:t>
            </a:r>
            <a:r>
              <a:rPr dirty="0"/>
              <a:t> </a:t>
            </a:r>
            <a:r>
              <a:rPr dirty="0" err="1"/>
              <a:t>thời</a:t>
            </a:r>
            <a:r>
              <a:rPr dirty="0"/>
              <a:t> </a:t>
            </a:r>
            <a:r>
              <a:rPr dirty="0" err="1"/>
              <a:t>vô</a:t>
            </a:r>
            <a:r>
              <a:rPr dirty="0"/>
              <a:t> </a:t>
            </a:r>
            <a:r>
              <a:rPr dirty="0" err="1"/>
              <a:t>hiệu</a:t>
            </a:r>
            <a:r>
              <a:rPr dirty="0"/>
              <a:t> </a:t>
            </a:r>
            <a:r>
              <a:rPr dirty="0" err="1"/>
              <a:t>hóa</a:t>
            </a:r>
            <a:r>
              <a:rPr dirty="0"/>
              <a:t> </a:t>
            </a:r>
            <a:r>
              <a:rPr dirty="0" err="1"/>
              <a:t>ngay</a:t>
            </a:r>
            <a:r>
              <a:rPr dirty="0"/>
              <a:t> </a:t>
            </a:r>
            <a:r>
              <a:rPr dirty="0" err="1"/>
              <a:t>lập</a:t>
            </a:r>
            <a:r>
              <a:rPr dirty="0"/>
              <a:t> </a:t>
            </a:r>
            <a:r>
              <a:rPr dirty="0" err="1"/>
              <a:t>tức</a:t>
            </a:r>
            <a:r>
              <a:rPr dirty="0"/>
              <a:t> </a:t>
            </a:r>
            <a:r>
              <a:rPr dirty="0" err="1"/>
              <a:t>các</a:t>
            </a:r>
            <a:r>
              <a:rPr dirty="0"/>
              <a:t> Token </a:t>
            </a:r>
            <a:r>
              <a:rPr dirty="0" err="1"/>
              <a:t>cũ</a:t>
            </a:r>
            <a:r>
              <a:rPr dirty="0"/>
              <a:t> </a:t>
            </a:r>
            <a:r>
              <a:rPr dirty="0" err="1"/>
              <a:t>để</a:t>
            </a:r>
            <a:r>
              <a:rPr dirty="0"/>
              <a:t> </a:t>
            </a:r>
            <a:r>
              <a:rPr dirty="0" err="1"/>
              <a:t>ngăn</a:t>
            </a:r>
            <a:r>
              <a:rPr dirty="0"/>
              <a:t> </a:t>
            </a:r>
            <a:r>
              <a:rPr dirty="0" err="1"/>
              <a:t>chặn</a:t>
            </a:r>
            <a:r>
              <a:rPr dirty="0"/>
              <a:t> </a:t>
            </a:r>
            <a:r>
              <a:rPr dirty="0" err="1"/>
              <a:t>xâm</a:t>
            </a:r>
            <a:r>
              <a:rPr dirty="0"/>
              <a:t> </a:t>
            </a:r>
            <a:r>
              <a:rPr dirty="0" err="1"/>
              <a:t>nhập</a:t>
            </a:r>
            <a:r>
              <a:rPr dirty="0"/>
              <a:t> </a:t>
            </a:r>
            <a:r>
              <a:rPr dirty="0" err="1"/>
              <a:t>trái</a:t>
            </a:r>
            <a:r>
              <a:rPr dirty="0"/>
              <a:t> </a:t>
            </a:r>
            <a:r>
              <a:rPr dirty="0" err="1"/>
              <a:t>phép</a:t>
            </a:r>
            <a:r>
              <a:rPr dirty="0"/>
              <a:t>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7C9F8A0-DF80-904D-F065-4DF599D97D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6412" y="1773936"/>
            <a:ext cx="6840139" cy="384962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75569"/>
                </a:solidFill>
                <a:latin typeface="Arial"/>
              </a:defRPr>
            </a:pPr>
            <a:r>
              <a:rPr lang="en-US" dirty="0"/>
              <a:t>CHƯƠNG</a:t>
            </a:r>
            <a:r>
              <a:rPr dirty="0"/>
              <a:t> 2: TÍNH NĂNG NGHIỆP VỤ 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rial"/>
              </a:defRPr>
            </a:pPr>
            <a:r>
              <a:t>Chức Năng Tìm Kiếm &amp; Bộ Lọc Đa Tiêu Chí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67512" y="1682200"/>
            <a:ext cx="3346704" cy="4175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spcAft>
                <a:spcPts val="1200"/>
              </a:spcAft>
              <a:defRPr sz="1500">
                <a:solidFill>
                  <a:srgbClr val="475569"/>
                </a:solidFill>
                <a:latin typeface="Arial"/>
              </a:defRPr>
            </a:pPr>
            <a:r>
              <a:rPr dirty="0"/>
              <a:t>• </a:t>
            </a:r>
            <a:r>
              <a:rPr dirty="0" err="1"/>
              <a:t>Hệ</a:t>
            </a:r>
            <a:r>
              <a:rPr dirty="0"/>
              <a:t> </a:t>
            </a:r>
            <a:r>
              <a:rPr dirty="0" err="1"/>
              <a:t>thống</a:t>
            </a:r>
            <a:r>
              <a:rPr dirty="0"/>
              <a:t> </a:t>
            </a:r>
            <a:r>
              <a:rPr dirty="0" err="1"/>
              <a:t>phân</a:t>
            </a:r>
            <a:r>
              <a:rPr dirty="0"/>
              <a:t> </a:t>
            </a:r>
            <a:r>
              <a:rPr dirty="0" err="1"/>
              <a:t>trang</a:t>
            </a:r>
            <a:r>
              <a:rPr dirty="0"/>
              <a:t> </a:t>
            </a:r>
            <a:r>
              <a:rPr dirty="0" err="1"/>
              <a:t>tải</a:t>
            </a:r>
            <a:r>
              <a:rPr dirty="0"/>
              <a:t> </a:t>
            </a:r>
            <a:r>
              <a:rPr dirty="0" err="1"/>
              <a:t>danh</a:t>
            </a:r>
            <a:r>
              <a:rPr dirty="0"/>
              <a:t> </a:t>
            </a:r>
            <a:r>
              <a:rPr dirty="0" err="1"/>
              <a:t>sách</a:t>
            </a:r>
            <a:r>
              <a:rPr dirty="0"/>
              <a:t> </a:t>
            </a:r>
            <a:r>
              <a:rPr dirty="0" err="1"/>
              <a:t>việc</a:t>
            </a:r>
            <a:r>
              <a:rPr dirty="0"/>
              <a:t> </a:t>
            </a:r>
            <a:r>
              <a:rPr dirty="0" err="1"/>
              <a:t>làm</a:t>
            </a:r>
            <a:r>
              <a:rPr dirty="0"/>
              <a:t> </a:t>
            </a:r>
            <a:r>
              <a:rPr dirty="0" err="1"/>
              <a:t>linh</a:t>
            </a:r>
            <a:r>
              <a:rPr dirty="0"/>
              <a:t> </a:t>
            </a:r>
            <a:r>
              <a:rPr dirty="0" err="1"/>
              <a:t>hoạt</a:t>
            </a:r>
            <a:r>
              <a:rPr dirty="0"/>
              <a:t>, </a:t>
            </a:r>
            <a:r>
              <a:rPr dirty="0" err="1"/>
              <a:t>tối</a:t>
            </a:r>
            <a:r>
              <a:rPr dirty="0"/>
              <a:t> </a:t>
            </a:r>
            <a:r>
              <a:rPr dirty="0" err="1"/>
              <a:t>ưu</a:t>
            </a:r>
            <a:r>
              <a:rPr dirty="0"/>
              <a:t> </a:t>
            </a:r>
            <a:r>
              <a:rPr dirty="0" err="1"/>
              <a:t>tốc</a:t>
            </a:r>
            <a:r>
              <a:rPr dirty="0"/>
              <a:t> </a:t>
            </a:r>
            <a:r>
              <a:rPr dirty="0" err="1"/>
              <a:t>độ</a:t>
            </a:r>
            <a:r>
              <a:rPr dirty="0"/>
              <a:t> </a:t>
            </a:r>
            <a:r>
              <a:rPr dirty="0" err="1"/>
              <a:t>phản</a:t>
            </a:r>
            <a:r>
              <a:rPr dirty="0"/>
              <a:t> </a:t>
            </a:r>
            <a:r>
              <a:rPr dirty="0" err="1"/>
              <a:t>hồi</a:t>
            </a:r>
            <a:r>
              <a:rPr dirty="0"/>
              <a:t> </a:t>
            </a:r>
            <a:r>
              <a:rPr dirty="0" err="1"/>
              <a:t>truy</a:t>
            </a:r>
            <a:r>
              <a:rPr dirty="0"/>
              <a:t> </a:t>
            </a:r>
            <a:r>
              <a:rPr dirty="0" err="1"/>
              <a:t>vấn</a:t>
            </a:r>
            <a:r>
              <a:rPr dirty="0"/>
              <a:t>.</a:t>
            </a:r>
          </a:p>
          <a:p>
            <a:pPr>
              <a:lnSpc>
                <a:spcPct val="200000"/>
              </a:lnSpc>
              <a:spcAft>
                <a:spcPts val="1200"/>
              </a:spcAft>
              <a:defRPr sz="1500">
                <a:solidFill>
                  <a:srgbClr val="475569"/>
                </a:solidFill>
                <a:latin typeface="Arial"/>
              </a:defRPr>
            </a:pPr>
            <a:r>
              <a:rPr dirty="0"/>
              <a:t>• </a:t>
            </a:r>
            <a:r>
              <a:rPr dirty="0" err="1"/>
              <a:t>Bộ</a:t>
            </a:r>
            <a:r>
              <a:rPr dirty="0"/>
              <a:t> </a:t>
            </a:r>
            <a:r>
              <a:rPr dirty="0" err="1"/>
              <a:t>lọc</a:t>
            </a:r>
            <a:r>
              <a:rPr dirty="0"/>
              <a:t> </a:t>
            </a:r>
            <a:r>
              <a:rPr dirty="0" err="1"/>
              <a:t>đa</a:t>
            </a:r>
            <a:r>
              <a:rPr dirty="0"/>
              <a:t> </a:t>
            </a:r>
            <a:r>
              <a:rPr dirty="0" err="1"/>
              <a:t>tiêu</a:t>
            </a:r>
            <a:r>
              <a:rPr dirty="0"/>
              <a:t> </a:t>
            </a:r>
            <a:r>
              <a:rPr dirty="0" err="1"/>
              <a:t>chí</a:t>
            </a:r>
            <a:r>
              <a:rPr dirty="0"/>
              <a:t>.</a:t>
            </a:r>
          </a:p>
          <a:p>
            <a:pPr>
              <a:lnSpc>
                <a:spcPct val="200000"/>
              </a:lnSpc>
              <a:spcAft>
                <a:spcPts val="1200"/>
              </a:spcAft>
              <a:defRPr sz="1500">
                <a:solidFill>
                  <a:srgbClr val="475569"/>
                </a:solidFill>
                <a:latin typeface="Arial"/>
              </a:defRPr>
            </a:pPr>
            <a:r>
              <a:rPr dirty="0"/>
              <a:t>• </a:t>
            </a:r>
            <a:r>
              <a:rPr dirty="0" err="1"/>
              <a:t>Tìm</a:t>
            </a:r>
            <a:r>
              <a:rPr dirty="0"/>
              <a:t> </a:t>
            </a:r>
            <a:r>
              <a:rPr dirty="0" err="1"/>
              <a:t>kiếm</a:t>
            </a:r>
            <a:r>
              <a:rPr dirty="0"/>
              <a:t> </a:t>
            </a:r>
            <a:r>
              <a:rPr dirty="0" err="1"/>
              <a:t>nâng</a:t>
            </a:r>
            <a:r>
              <a:rPr dirty="0"/>
              <a:t> </a:t>
            </a:r>
            <a:r>
              <a:rPr dirty="0" err="1"/>
              <a:t>cao</a:t>
            </a:r>
            <a:r>
              <a:rPr dirty="0"/>
              <a:t>.</a:t>
            </a:r>
          </a:p>
          <a:p>
            <a:pPr>
              <a:lnSpc>
                <a:spcPct val="200000"/>
              </a:lnSpc>
              <a:spcAft>
                <a:spcPts val="1200"/>
              </a:spcAft>
              <a:defRPr sz="1500">
                <a:solidFill>
                  <a:srgbClr val="475569"/>
                </a:solidFill>
                <a:latin typeface="Arial"/>
              </a:defRPr>
            </a:pPr>
            <a:r>
              <a:rPr dirty="0"/>
              <a:t>• </a:t>
            </a:r>
            <a:r>
              <a:rPr dirty="0" err="1"/>
              <a:t>Lọc</a:t>
            </a:r>
            <a:r>
              <a:rPr dirty="0"/>
              <a:t> </a:t>
            </a:r>
            <a:r>
              <a:rPr dirty="0" err="1"/>
              <a:t>nhanh</a:t>
            </a:r>
            <a:r>
              <a:rPr dirty="0"/>
              <a:t> </a:t>
            </a:r>
            <a:r>
              <a:rPr dirty="0" err="1"/>
              <a:t>các</a:t>
            </a:r>
            <a:r>
              <a:rPr dirty="0"/>
              <a:t> </a:t>
            </a:r>
            <a:r>
              <a:rPr dirty="0" err="1"/>
              <a:t>cơ</a:t>
            </a:r>
            <a:r>
              <a:rPr dirty="0"/>
              <a:t> </a:t>
            </a:r>
            <a:r>
              <a:rPr dirty="0" err="1"/>
              <a:t>hội</a:t>
            </a:r>
            <a:r>
              <a:rPr dirty="0"/>
              <a:t> </a:t>
            </a:r>
            <a:r>
              <a:rPr dirty="0" err="1"/>
              <a:t>việc</a:t>
            </a:r>
            <a:r>
              <a:rPr dirty="0"/>
              <a:t> </a:t>
            </a:r>
            <a:r>
              <a:rPr dirty="0" err="1"/>
              <a:t>làm</a:t>
            </a:r>
            <a:r>
              <a:rPr dirty="0"/>
              <a:t> </a:t>
            </a:r>
            <a:r>
              <a:rPr dirty="0" err="1"/>
              <a:t>và</a:t>
            </a:r>
            <a:r>
              <a:rPr dirty="0"/>
              <a:t> </a:t>
            </a:r>
            <a:r>
              <a:rPr dirty="0" err="1"/>
              <a:t>các</a:t>
            </a:r>
            <a:r>
              <a:rPr dirty="0"/>
              <a:t> </a:t>
            </a:r>
            <a:r>
              <a:rPr dirty="0" err="1"/>
              <a:t>thương</a:t>
            </a:r>
            <a:r>
              <a:rPr dirty="0"/>
              <a:t> </a:t>
            </a:r>
            <a:r>
              <a:rPr dirty="0" err="1"/>
              <a:t>hiệu</a:t>
            </a:r>
            <a:r>
              <a:rPr dirty="0"/>
              <a:t> </a:t>
            </a:r>
            <a:r>
              <a:rPr dirty="0" err="1"/>
              <a:t>nhà</a:t>
            </a:r>
            <a:r>
              <a:rPr dirty="0"/>
              <a:t> </a:t>
            </a:r>
            <a:r>
              <a:rPr dirty="0" err="1"/>
              <a:t>tuyển</a:t>
            </a:r>
            <a:r>
              <a:rPr dirty="0"/>
              <a:t> </a:t>
            </a:r>
            <a:r>
              <a:rPr dirty="0" err="1"/>
              <a:t>dụng</a:t>
            </a:r>
            <a:r>
              <a:rPr dirty="0"/>
              <a:t> </a:t>
            </a:r>
            <a:r>
              <a:rPr dirty="0" err="1"/>
              <a:t>nổi</a:t>
            </a:r>
            <a:r>
              <a:rPr dirty="0"/>
              <a:t> </a:t>
            </a:r>
            <a:r>
              <a:rPr dirty="0" err="1"/>
              <a:t>bật</a:t>
            </a:r>
            <a:r>
              <a:rPr dirty="0"/>
              <a:t> </a:t>
            </a:r>
            <a:r>
              <a:rPr dirty="0" err="1"/>
              <a:t>của</a:t>
            </a:r>
            <a:r>
              <a:rPr dirty="0"/>
              <a:t> </a:t>
            </a:r>
            <a:r>
              <a:rPr dirty="0" err="1"/>
              <a:t>tuần</a:t>
            </a:r>
            <a:r>
              <a:rPr dirty="0"/>
              <a:t>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8430160-D475-6397-5337-E5F1AE0666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3853" y="1682200"/>
            <a:ext cx="8058147" cy="398708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75569"/>
                </a:solidFill>
                <a:latin typeface="Arial"/>
              </a:defRPr>
            </a:pPr>
            <a:r>
              <a:rPr lang="en-US" dirty="0"/>
              <a:t>CHƯƠNG</a:t>
            </a:r>
            <a:r>
              <a:rPr dirty="0"/>
              <a:t> 2: TÍNH NĂNG NGHIỆP VỤ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rial"/>
              </a:defRPr>
            </a:pPr>
            <a:r>
              <a:rPr dirty="0" err="1"/>
              <a:t>Không</a:t>
            </a:r>
            <a:r>
              <a:rPr dirty="0"/>
              <a:t> Gian Làm </a:t>
            </a:r>
            <a:r>
              <a:rPr dirty="0" err="1"/>
              <a:t>Việc</a:t>
            </a:r>
            <a:r>
              <a:rPr dirty="0"/>
              <a:t> </a:t>
            </a:r>
            <a:r>
              <a:rPr dirty="0" err="1"/>
              <a:t>Dành</a:t>
            </a:r>
            <a:r>
              <a:rPr dirty="0"/>
              <a:t> Cho </a:t>
            </a:r>
            <a:r>
              <a:rPr dirty="0" err="1"/>
              <a:t>Ứng</a:t>
            </a:r>
            <a:r>
              <a:rPr dirty="0"/>
              <a:t> Viên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572000" cy="3215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spcAft>
                <a:spcPts val="1000"/>
              </a:spcAft>
              <a:defRPr sz="1300">
                <a:solidFill>
                  <a:srgbClr val="475569"/>
                </a:solidFill>
                <a:latin typeface="Arial"/>
              </a:defRPr>
            </a:pPr>
            <a:r>
              <a:rPr dirty="0"/>
              <a:t>• </a:t>
            </a:r>
            <a:r>
              <a:rPr dirty="0" err="1"/>
              <a:t>Cập</a:t>
            </a:r>
            <a:r>
              <a:rPr dirty="0"/>
              <a:t> </a:t>
            </a:r>
            <a:r>
              <a:rPr dirty="0" err="1"/>
              <a:t>nhật</a:t>
            </a:r>
            <a:r>
              <a:rPr dirty="0"/>
              <a:t> </a:t>
            </a:r>
            <a:r>
              <a:rPr dirty="0" err="1"/>
              <a:t>thông</a:t>
            </a:r>
            <a:r>
              <a:rPr dirty="0"/>
              <a:t> tin </a:t>
            </a:r>
            <a:r>
              <a:rPr dirty="0" err="1"/>
              <a:t>liên</a:t>
            </a:r>
            <a:r>
              <a:rPr dirty="0"/>
              <a:t> </a:t>
            </a:r>
            <a:r>
              <a:rPr dirty="0" err="1"/>
              <a:t>hệ</a:t>
            </a:r>
            <a:r>
              <a:rPr dirty="0"/>
              <a:t>, </a:t>
            </a:r>
            <a:r>
              <a:rPr dirty="0" err="1"/>
              <a:t>viết</a:t>
            </a:r>
            <a:r>
              <a:rPr dirty="0"/>
              <a:t> </a:t>
            </a:r>
            <a:r>
              <a:rPr dirty="0" err="1"/>
              <a:t>mục</a:t>
            </a:r>
            <a:r>
              <a:rPr dirty="0"/>
              <a:t> </a:t>
            </a:r>
            <a:r>
              <a:rPr dirty="0" err="1"/>
              <a:t>tiêu</a:t>
            </a:r>
            <a:r>
              <a:rPr dirty="0"/>
              <a:t> </a:t>
            </a:r>
            <a:r>
              <a:rPr dirty="0" err="1"/>
              <a:t>nghề</a:t>
            </a:r>
            <a:r>
              <a:rPr dirty="0"/>
              <a:t> </a:t>
            </a:r>
            <a:r>
              <a:rPr dirty="0" err="1"/>
              <a:t>nghiệp</a:t>
            </a:r>
            <a:r>
              <a:rPr dirty="0"/>
              <a:t> </a:t>
            </a:r>
            <a:r>
              <a:rPr dirty="0" err="1"/>
              <a:t>và</a:t>
            </a:r>
            <a:r>
              <a:rPr dirty="0"/>
              <a:t> </a:t>
            </a:r>
            <a:r>
              <a:rPr dirty="0" err="1"/>
              <a:t>các</a:t>
            </a:r>
            <a:r>
              <a:rPr dirty="0"/>
              <a:t> </a:t>
            </a:r>
            <a:r>
              <a:rPr dirty="0" err="1"/>
              <a:t>mạng</a:t>
            </a:r>
            <a:r>
              <a:rPr dirty="0"/>
              <a:t> </a:t>
            </a:r>
            <a:r>
              <a:rPr dirty="0" err="1"/>
              <a:t>xã</a:t>
            </a:r>
            <a:r>
              <a:rPr dirty="0"/>
              <a:t> </a:t>
            </a:r>
            <a:r>
              <a:rPr dirty="0" err="1"/>
              <a:t>hội</a:t>
            </a:r>
            <a:r>
              <a:rPr dirty="0"/>
              <a:t> </a:t>
            </a:r>
            <a:r>
              <a:rPr dirty="0" err="1"/>
              <a:t>nghề</a:t>
            </a:r>
            <a:r>
              <a:rPr dirty="0"/>
              <a:t> </a:t>
            </a:r>
            <a:r>
              <a:rPr dirty="0" err="1"/>
              <a:t>nghiệp</a:t>
            </a:r>
            <a:r>
              <a:rPr dirty="0"/>
              <a:t>.</a:t>
            </a:r>
          </a:p>
          <a:p>
            <a:pPr>
              <a:lnSpc>
                <a:spcPct val="200000"/>
              </a:lnSpc>
              <a:spcAft>
                <a:spcPts val="1000"/>
              </a:spcAft>
              <a:defRPr sz="1300">
                <a:solidFill>
                  <a:srgbClr val="475569"/>
                </a:solidFill>
                <a:latin typeface="Arial"/>
              </a:defRPr>
            </a:pPr>
            <a:r>
              <a:rPr dirty="0"/>
              <a:t>• </a:t>
            </a:r>
            <a:r>
              <a:rPr dirty="0" err="1"/>
              <a:t>Thuật</a:t>
            </a:r>
            <a:r>
              <a:rPr dirty="0"/>
              <a:t> </a:t>
            </a:r>
            <a:r>
              <a:rPr dirty="0" err="1"/>
              <a:t>toán</a:t>
            </a:r>
            <a:r>
              <a:rPr dirty="0"/>
              <a:t> </a:t>
            </a:r>
            <a:r>
              <a:rPr dirty="0" err="1"/>
              <a:t>gợi</a:t>
            </a:r>
            <a:r>
              <a:rPr dirty="0"/>
              <a:t> ý </a:t>
            </a:r>
            <a:r>
              <a:rPr dirty="0" err="1"/>
              <a:t>việc</a:t>
            </a:r>
            <a:r>
              <a:rPr dirty="0"/>
              <a:t> </a:t>
            </a:r>
            <a:r>
              <a:rPr dirty="0" err="1"/>
              <a:t>làm</a:t>
            </a:r>
            <a:r>
              <a:rPr dirty="0"/>
              <a:t> </a:t>
            </a:r>
            <a:r>
              <a:rPr dirty="0" err="1"/>
              <a:t>tự</a:t>
            </a:r>
            <a:r>
              <a:rPr dirty="0"/>
              <a:t> </a:t>
            </a:r>
            <a:r>
              <a:rPr dirty="0" err="1"/>
              <a:t>động</a:t>
            </a:r>
            <a:r>
              <a:rPr dirty="0"/>
              <a:t> </a:t>
            </a:r>
            <a:r>
              <a:rPr dirty="0" err="1"/>
              <a:t>dựa</a:t>
            </a:r>
            <a:r>
              <a:rPr dirty="0"/>
              <a:t> </a:t>
            </a:r>
            <a:r>
              <a:rPr dirty="0" err="1"/>
              <a:t>trên</a:t>
            </a:r>
            <a:r>
              <a:rPr dirty="0"/>
              <a:t> </a:t>
            </a:r>
            <a:r>
              <a:rPr dirty="0" err="1"/>
              <a:t>hành</a:t>
            </a:r>
            <a:r>
              <a:rPr dirty="0"/>
              <a:t> vi </a:t>
            </a:r>
            <a:r>
              <a:rPr dirty="0" err="1"/>
              <a:t>tìm</a:t>
            </a:r>
            <a:r>
              <a:rPr dirty="0"/>
              <a:t> </a:t>
            </a:r>
            <a:r>
              <a:rPr dirty="0" err="1"/>
              <a:t>kiếm</a:t>
            </a:r>
            <a:r>
              <a:rPr dirty="0"/>
              <a:t> </a:t>
            </a:r>
            <a:r>
              <a:rPr dirty="0" err="1"/>
              <a:t>và</a:t>
            </a:r>
            <a:r>
              <a:rPr dirty="0"/>
              <a:t> </a:t>
            </a:r>
            <a:r>
              <a:rPr dirty="0" err="1"/>
              <a:t>ngành</a:t>
            </a:r>
            <a:r>
              <a:rPr dirty="0"/>
              <a:t> </a:t>
            </a:r>
            <a:r>
              <a:rPr dirty="0" err="1"/>
              <a:t>nghề</a:t>
            </a:r>
            <a:r>
              <a:rPr dirty="0"/>
              <a:t> </a:t>
            </a:r>
            <a:r>
              <a:rPr dirty="0" err="1"/>
              <a:t>đã</a:t>
            </a:r>
            <a:r>
              <a:rPr dirty="0"/>
              <a:t> </a:t>
            </a:r>
            <a:r>
              <a:rPr dirty="0" err="1"/>
              <a:t>chọn</a:t>
            </a:r>
            <a:r>
              <a:rPr dirty="0"/>
              <a:t>.</a:t>
            </a:r>
            <a:endParaRPr lang="en-US" dirty="0"/>
          </a:p>
          <a:p>
            <a:pPr>
              <a:lnSpc>
                <a:spcPct val="200000"/>
              </a:lnSpc>
              <a:spcAft>
                <a:spcPts val="1000"/>
              </a:spcAft>
              <a:defRPr sz="1300">
                <a:solidFill>
                  <a:srgbClr val="475569"/>
                </a:solidFill>
                <a:latin typeface="Arial"/>
              </a:defRPr>
            </a:pPr>
            <a:r>
              <a:rPr lang="vi-VN" dirty="0"/>
              <a:t>• Dashboard cá nhân tổng hợp: Số việc đã nộp, việc đã lưu, tiến độ hoàn thiện hồ sơ.</a:t>
            </a:r>
          </a:p>
          <a:p>
            <a:pPr>
              <a:lnSpc>
                <a:spcPct val="200000"/>
              </a:lnSpc>
              <a:spcAft>
                <a:spcPts val="1000"/>
              </a:spcAft>
              <a:defRPr sz="1300">
                <a:solidFill>
                  <a:srgbClr val="475569"/>
                </a:solidFill>
                <a:latin typeface="Arial"/>
              </a:defRPr>
            </a:pPr>
            <a:endParaRPr dirty="0"/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0" y="1828800"/>
            <a:ext cx="4572000" cy="3215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spcAft>
                <a:spcPts val="1000"/>
              </a:spcAft>
              <a:defRPr sz="1300">
                <a:solidFill>
                  <a:srgbClr val="475569"/>
                </a:solidFill>
                <a:latin typeface="Arial"/>
              </a:defRPr>
            </a:pPr>
            <a:r>
              <a:rPr dirty="0"/>
              <a:t>• </a:t>
            </a:r>
            <a:r>
              <a:rPr dirty="0" err="1"/>
              <a:t>Ngăn</a:t>
            </a:r>
            <a:r>
              <a:rPr dirty="0"/>
              <a:t> </a:t>
            </a:r>
            <a:r>
              <a:rPr dirty="0" err="1"/>
              <a:t>chặn</a:t>
            </a:r>
            <a:r>
              <a:rPr dirty="0"/>
              <a:t> </a:t>
            </a:r>
            <a:r>
              <a:rPr dirty="0" err="1"/>
              <a:t>việc</a:t>
            </a:r>
            <a:r>
              <a:rPr dirty="0"/>
              <a:t> </a:t>
            </a:r>
            <a:r>
              <a:rPr dirty="0" err="1"/>
              <a:t>nộp</a:t>
            </a:r>
            <a:r>
              <a:rPr dirty="0"/>
              <a:t> </a:t>
            </a:r>
            <a:r>
              <a:rPr dirty="0" err="1"/>
              <a:t>đơn</a:t>
            </a:r>
            <a:r>
              <a:rPr dirty="0"/>
              <a:t> </a:t>
            </a:r>
            <a:r>
              <a:rPr dirty="0" err="1"/>
              <a:t>trùng</a:t>
            </a:r>
            <a:r>
              <a:rPr dirty="0"/>
              <a:t> </a:t>
            </a:r>
            <a:r>
              <a:rPr dirty="0" err="1"/>
              <a:t>lặp</a:t>
            </a:r>
            <a:r>
              <a:rPr dirty="0"/>
              <a:t> </a:t>
            </a:r>
            <a:r>
              <a:rPr dirty="0" err="1"/>
              <a:t>hoặc</a:t>
            </a:r>
            <a:r>
              <a:rPr dirty="0"/>
              <a:t> </a:t>
            </a:r>
            <a:r>
              <a:rPr dirty="0" err="1"/>
              <a:t>nộp</a:t>
            </a:r>
            <a:r>
              <a:rPr dirty="0"/>
              <a:t> </a:t>
            </a:r>
            <a:r>
              <a:rPr dirty="0" err="1"/>
              <a:t>vào</a:t>
            </a:r>
            <a:r>
              <a:rPr dirty="0"/>
              <a:t> </a:t>
            </a:r>
            <a:r>
              <a:rPr dirty="0" err="1"/>
              <a:t>các</a:t>
            </a:r>
            <a:r>
              <a:rPr dirty="0"/>
              <a:t> tin </a:t>
            </a:r>
            <a:r>
              <a:rPr dirty="0" err="1"/>
              <a:t>đã</a:t>
            </a:r>
            <a:r>
              <a:rPr dirty="0"/>
              <a:t> </a:t>
            </a:r>
            <a:r>
              <a:rPr dirty="0" err="1"/>
              <a:t>hết</a:t>
            </a:r>
            <a:r>
              <a:rPr dirty="0"/>
              <a:t> </a:t>
            </a:r>
            <a:r>
              <a:rPr dirty="0" err="1"/>
              <a:t>hạn</a:t>
            </a:r>
            <a:r>
              <a:rPr dirty="0"/>
              <a:t> </a:t>
            </a:r>
            <a:r>
              <a:rPr dirty="0" err="1"/>
              <a:t>tuyển</a:t>
            </a:r>
            <a:r>
              <a:rPr dirty="0"/>
              <a:t> </a:t>
            </a:r>
            <a:r>
              <a:rPr dirty="0" err="1"/>
              <a:t>dụng</a:t>
            </a:r>
            <a:r>
              <a:rPr dirty="0"/>
              <a:t>.</a:t>
            </a:r>
          </a:p>
          <a:p>
            <a:pPr>
              <a:lnSpc>
                <a:spcPct val="200000"/>
              </a:lnSpc>
              <a:spcAft>
                <a:spcPts val="1000"/>
              </a:spcAft>
              <a:defRPr sz="1300">
                <a:solidFill>
                  <a:srgbClr val="475569"/>
                </a:solidFill>
                <a:latin typeface="Arial"/>
              </a:defRPr>
            </a:pPr>
            <a:r>
              <a:rPr dirty="0"/>
              <a:t>• Theo </a:t>
            </a:r>
            <a:r>
              <a:rPr dirty="0" err="1"/>
              <a:t>dõi</a:t>
            </a:r>
            <a:r>
              <a:rPr dirty="0"/>
              <a:t> </a:t>
            </a:r>
            <a:r>
              <a:rPr dirty="0" err="1"/>
              <a:t>trạng</a:t>
            </a:r>
            <a:r>
              <a:rPr dirty="0"/>
              <a:t> </a:t>
            </a:r>
            <a:r>
              <a:rPr dirty="0" err="1"/>
              <a:t>thái</a:t>
            </a:r>
            <a:r>
              <a:rPr dirty="0"/>
              <a:t> </a:t>
            </a:r>
            <a:r>
              <a:rPr dirty="0" err="1"/>
              <a:t>xử</a:t>
            </a:r>
            <a:r>
              <a:rPr dirty="0"/>
              <a:t> </a:t>
            </a:r>
            <a:r>
              <a:rPr dirty="0" err="1"/>
              <a:t>lý</a:t>
            </a:r>
            <a:r>
              <a:rPr dirty="0"/>
              <a:t> </a:t>
            </a:r>
            <a:r>
              <a:rPr dirty="0" err="1"/>
              <a:t>thời</a:t>
            </a:r>
            <a:r>
              <a:rPr dirty="0"/>
              <a:t> </a:t>
            </a:r>
            <a:r>
              <a:rPr dirty="0" err="1"/>
              <a:t>gian</a:t>
            </a:r>
            <a:r>
              <a:rPr dirty="0"/>
              <a:t> </a:t>
            </a:r>
            <a:r>
              <a:rPr dirty="0" err="1"/>
              <a:t>thực</a:t>
            </a:r>
            <a:r>
              <a:rPr dirty="0"/>
              <a:t>: </a:t>
            </a:r>
            <a:r>
              <a:rPr dirty="0" err="1"/>
              <a:t>Chờ</a:t>
            </a:r>
            <a:r>
              <a:rPr dirty="0"/>
              <a:t> </a:t>
            </a:r>
            <a:r>
              <a:rPr dirty="0" err="1"/>
              <a:t>xử</a:t>
            </a:r>
            <a:r>
              <a:rPr dirty="0"/>
              <a:t> </a:t>
            </a:r>
            <a:r>
              <a:rPr dirty="0" err="1"/>
              <a:t>lý</a:t>
            </a:r>
            <a:r>
              <a:rPr dirty="0"/>
              <a:t>, </a:t>
            </a:r>
            <a:r>
              <a:rPr dirty="0" err="1"/>
              <a:t>Đã</a:t>
            </a:r>
            <a:r>
              <a:rPr dirty="0"/>
              <a:t> </a:t>
            </a:r>
            <a:r>
              <a:rPr dirty="0" err="1"/>
              <a:t>xem</a:t>
            </a:r>
            <a:r>
              <a:rPr dirty="0"/>
              <a:t>, </a:t>
            </a:r>
            <a:r>
              <a:rPr dirty="0" err="1"/>
              <a:t>Mời</a:t>
            </a:r>
            <a:r>
              <a:rPr dirty="0"/>
              <a:t> </a:t>
            </a:r>
            <a:r>
              <a:rPr dirty="0" err="1"/>
              <a:t>phỏng</a:t>
            </a:r>
            <a:r>
              <a:rPr dirty="0"/>
              <a:t> </a:t>
            </a:r>
            <a:r>
              <a:rPr dirty="0" err="1"/>
              <a:t>vấn</a:t>
            </a:r>
            <a:r>
              <a:rPr dirty="0"/>
              <a:t>, </a:t>
            </a:r>
            <a:r>
              <a:rPr dirty="0" err="1"/>
              <a:t>Kết</a:t>
            </a:r>
            <a:r>
              <a:rPr dirty="0"/>
              <a:t> </a:t>
            </a:r>
            <a:r>
              <a:rPr dirty="0" err="1"/>
              <a:t>quả</a:t>
            </a:r>
            <a:r>
              <a:rPr dirty="0"/>
              <a:t> </a:t>
            </a:r>
            <a:r>
              <a:rPr dirty="0" err="1"/>
              <a:t>đạt</a:t>
            </a:r>
            <a:r>
              <a:rPr dirty="0"/>
              <a:t>/</a:t>
            </a:r>
            <a:r>
              <a:rPr dirty="0" err="1"/>
              <a:t>trượt</a:t>
            </a:r>
            <a:r>
              <a:rPr dirty="0"/>
              <a:t>.</a:t>
            </a:r>
            <a:endParaRPr lang="en-US" dirty="0"/>
          </a:p>
          <a:p>
            <a:pPr>
              <a:lnSpc>
                <a:spcPct val="200000"/>
              </a:lnSpc>
              <a:spcAft>
                <a:spcPts val="1000"/>
              </a:spcAft>
              <a:defRPr sz="1300">
                <a:solidFill>
                  <a:srgbClr val="475569"/>
                </a:solidFill>
                <a:latin typeface="Arial"/>
              </a:defRPr>
            </a:pPr>
            <a:r>
              <a:rPr lang="vi-VN" dirty="0"/>
              <a:t>• Cho phép nộp hồ sơ linh hoạt bằng CV tạo trực tuyến hoặc tải tệp tin PDF cá nhân lên.</a:t>
            </a:r>
          </a:p>
          <a:p>
            <a:pPr>
              <a:lnSpc>
                <a:spcPct val="200000"/>
              </a:lnSpc>
              <a:spcAft>
                <a:spcPts val="1000"/>
              </a:spcAft>
              <a:defRPr sz="1300">
                <a:solidFill>
                  <a:srgbClr val="475569"/>
                </a:solidFill>
                <a:latin typeface="Arial"/>
              </a:defRPr>
            </a:pP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75569"/>
                </a:solidFill>
                <a:latin typeface="Arial"/>
              </a:defRPr>
            </a:pPr>
            <a:r>
              <a:rPr lang="en-US" dirty="0"/>
              <a:t>CHƯƠNG</a:t>
            </a:r>
            <a:r>
              <a:rPr dirty="0"/>
              <a:t> 2: TÍNH NĂNG NGHIỆP VỤ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rial"/>
              </a:defRPr>
            </a:pPr>
            <a:r>
              <a:t>Quản Lý CV &amp; Hồ Sơ Năng Lực Trực Tuyến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486400" cy="46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200000"/>
              </a:lnSpc>
              <a:spcAft>
                <a:spcPts val="1200"/>
              </a:spcAft>
              <a:defRPr sz="1500">
                <a:solidFill>
                  <a:srgbClr val="475569"/>
                </a:solidFill>
                <a:latin typeface="Arial"/>
              </a:defRPr>
            </a:pPr>
            <a:r>
              <a:rPr dirty="0"/>
              <a:t>• Cho </a:t>
            </a:r>
            <a:r>
              <a:rPr dirty="0" err="1"/>
              <a:t>phép</a:t>
            </a:r>
            <a:r>
              <a:rPr dirty="0"/>
              <a:t> </a:t>
            </a:r>
            <a:r>
              <a:rPr dirty="0" err="1"/>
              <a:t>tạo</a:t>
            </a:r>
            <a:r>
              <a:rPr dirty="0"/>
              <a:t> </a:t>
            </a:r>
            <a:r>
              <a:rPr dirty="0" err="1"/>
              <a:t>lập</a:t>
            </a:r>
            <a:r>
              <a:rPr dirty="0"/>
              <a:t> </a:t>
            </a:r>
            <a:r>
              <a:rPr dirty="0" err="1"/>
              <a:t>và</a:t>
            </a:r>
            <a:r>
              <a:rPr dirty="0"/>
              <a:t> </a:t>
            </a:r>
            <a:r>
              <a:rPr dirty="0" err="1"/>
              <a:t>quản</a:t>
            </a:r>
            <a:r>
              <a:rPr dirty="0"/>
              <a:t> </a:t>
            </a:r>
            <a:r>
              <a:rPr dirty="0" err="1"/>
              <a:t>lý</a:t>
            </a:r>
            <a:r>
              <a:rPr dirty="0"/>
              <a:t> </a:t>
            </a:r>
            <a:r>
              <a:rPr dirty="0" err="1"/>
              <a:t>đồng</a:t>
            </a:r>
            <a:r>
              <a:rPr dirty="0"/>
              <a:t> </a:t>
            </a:r>
            <a:r>
              <a:rPr dirty="0" err="1"/>
              <a:t>thời</a:t>
            </a:r>
            <a:r>
              <a:rPr dirty="0"/>
              <a:t> </a:t>
            </a:r>
            <a:r>
              <a:rPr dirty="0" err="1"/>
              <a:t>nhiều</a:t>
            </a:r>
            <a:r>
              <a:rPr dirty="0"/>
              <a:t> </a:t>
            </a:r>
            <a:r>
              <a:rPr dirty="0" err="1"/>
              <a:t>phiên</a:t>
            </a:r>
            <a:r>
              <a:rPr dirty="0"/>
              <a:t> </a:t>
            </a:r>
            <a:r>
              <a:rPr dirty="0" err="1"/>
              <a:t>bản</a:t>
            </a:r>
            <a:r>
              <a:rPr dirty="0"/>
              <a:t> CV </a:t>
            </a:r>
            <a:r>
              <a:rPr dirty="0" err="1"/>
              <a:t>ứng</a:t>
            </a:r>
            <a:r>
              <a:rPr dirty="0"/>
              <a:t> </a:t>
            </a:r>
            <a:r>
              <a:rPr dirty="0" err="1"/>
              <a:t>tuyển</a:t>
            </a:r>
            <a:r>
              <a:rPr dirty="0"/>
              <a:t> </a:t>
            </a:r>
            <a:r>
              <a:rPr dirty="0" err="1"/>
              <a:t>khác</a:t>
            </a:r>
            <a:r>
              <a:rPr dirty="0"/>
              <a:t> </a:t>
            </a:r>
            <a:r>
              <a:rPr dirty="0" err="1"/>
              <a:t>nhau</a:t>
            </a:r>
            <a:r>
              <a:rPr dirty="0"/>
              <a:t>.</a:t>
            </a:r>
          </a:p>
          <a:p>
            <a:pPr algn="just">
              <a:lnSpc>
                <a:spcPct val="200000"/>
              </a:lnSpc>
              <a:spcAft>
                <a:spcPts val="1200"/>
              </a:spcAft>
              <a:defRPr sz="1500">
                <a:solidFill>
                  <a:srgbClr val="475569"/>
                </a:solidFill>
                <a:latin typeface="Arial"/>
              </a:defRPr>
            </a:pPr>
            <a:r>
              <a:rPr dirty="0"/>
              <a:t>• </a:t>
            </a:r>
            <a:r>
              <a:rPr dirty="0" err="1"/>
              <a:t>Tính</a:t>
            </a:r>
            <a:r>
              <a:rPr dirty="0"/>
              <a:t> </a:t>
            </a:r>
            <a:r>
              <a:rPr dirty="0" err="1"/>
              <a:t>năng</a:t>
            </a:r>
            <a:r>
              <a:rPr dirty="0"/>
              <a:t> </a:t>
            </a:r>
            <a:r>
              <a:rPr dirty="0" err="1"/>
              <a:t>thiết</a:t>
            </a:r>
            <a:r>
              <a:rPr dirty="0"/>
              <a:t> </a:t>
            </a:r>
            <a:r>
              <a:rPr dirty="0" err="1"/>
              <a:t>lập</a:t>
            </a:r>
            <a:r>
              <a:rPr dirty="0"/>
              <a:t> 'CV </a:t>
            </a:r>
            <a:r>
              <a:rPr dirty="0" err="1"/>
              <a:t>Mặc</a:t>
            </a:r>
            <a:r>
              <a:rPr dirty="0"/>
              <a:t> </a:t>
            </a:r>
            <a:r>
              <a:rPr dirty="0" err="1"/>
              <a:t>định</a:t>
            </a:r>
            <a:r>
              <a:rPr dirty="0"/>
              <a:t>' </a:t>
            </a:r>
            <a:r>
              <a:rPr dirty="0" err="1"/>
              <a:t>giúp</a:t>
            </a:r>
            <a:r>
              <a:rPr dirty="0"/>
              <a:t> </a:t>
            </a:r>
            <a:r>
              <a:rPr dirty="0" err="1"/>
              <a:t>tăng</a:t>
            </a:r>
            <a:r>
              <a:rPr dirty="0"/>
              <a:t> </a:t>
            </a:r>
            <a:r>
              <a:rPr dirty="0" err="1"/>
              <a:t>tốc</a:t>
            </a:r>
            <a:r>
              <a:rPr dirty="0"/>
              <a:t> </a:t>
            </a:r>
            <a:r>
              <a:rPr dirty="0" err="1"/>
              <a:t>tối</a:t>
            </a:r>
            <a:r>
              <a:rPr dirty="0"/>
              <a:t> </a:t>
            </a:r>
            <a:r>
              <a:rPr dirty="0" err="1"/>
              <a:t>đa</a:t>
            </a:r>
            <a:r>
              <a:rPr dirty="0"/>
              <a:t> </a:t>
            </a:r>
            <a:r>
              <a:rPr dirty="0" err="1"/>
              <a:t>quá</a:t>
            </a:r>
            <a:r>
              <a:rPr dirty="0"/>
              <a:t> </a:t>
            </a:r>
            <a:r>
              <a:rPr dirty="0" err="1"/>
              <a:t>trình</a:t>
            </a:r>
            <a:r>
              <a:rPr dirty="0"/>
              <a:t> </a:t>
            </a:r>
            <a:r>
              <a:rPr dirty="0" err="1"/>
              <a:t>nộp</a:t>
            </a:r>
            <a:r>
              <a:rPr dirty="0"/>
              <a:t> </a:t>
            </a:r>
            <a:r>
              <a:rPr dirty="0" err="1"/>
              <a:t>hồ</a:t>
            </a:r>
            <a:r>
              <a:rPr dirty="0"/>
              <a:t> </a:t>
            </a:r>
            <a:r>
              <a:rPr dirty="0" err="1"/>
              <a:t>sơ</a:t>
            </a:r>
            <a:r>
              <a:rPr dirty="0"/>
              <a:t> </a:t>
            </a:r>
            <a:r>
              <a:rPr dirty="0" err="1"/>
              <a:t>nhanh</a:t>
            </a:r>
            <a:r>
              <a:rPr dirty="0"/>
              <a:t>.</a:t>
            </a:r>
          </a:p>
          <a:p>
            <a:pPr algn="just">
              <a:lnSpc>
                <a:spcPct val="200000"/>
              </a:lnSpc>
              <a:spcAft>
                <a:spcPts val="1200"/>
              </a:spcAft>
              <a:defRPr sz="1500">
                <a:solidFill>
                  <a:srgbClr val="475569"/>
                </a:solidFill>
                <a:latin typeface="Arial"/>
              </a:defRPr>
            </a:pPr>
            <a:r>
              <a:rPr dirty="0"/>
              <a:t>• </a:t>
            </a:r>
            <a:r>
              <a:rPr dirty="0" err="1"/>
              <a:t>Cơ</a:t>
            </a:r>
            <a:r>
              <a:rPr dirty="0"/>
              <a:t> </a:t>
            </a:r>
            <a:r>
              <a:rPr dirty="0" err="1"/>
              <a:t>sở</a:t>
            </a:r>
            <a:r>
              <a:rPr dirty="0"/>
              <a:t> </a:t>
            </a:r>
            <a:r>
              <a:rPr dirty="0" err="1"/>
              <a:t>dữ</a:t>
            </a:r>
            <a:r>
              <a:rPr dirty="0"/>
              <a:t> </a:t>
            </a:r>
            <a:r>
              <a:rPr dirty="0" err="1"/>
              <a:t>liệu</a:t>
            </a:r>
            <a:r>
              <a:rPr dirty="0"/>
              <a:t> CV </a:t>
            </a:r>
            <a:r>
              <a:rPr dirty="0" err="1"/>
              <a:t>cấu</a:t>
            </a:r>
            <a:r>
              <a:rPr dirty="0"/>
              <a:t> </a:t>
            </a:r>
            <a:r>
              <a:rPr dirty="0" err="1"/>
              <a:t>trúc</a:t>
            </a:r>
            <a:r>
              <a:rPr dirty="0"/>
              <a:t> </a:t>
            </a:r>
            <a:r>
              <a:rPr dirty="0" err="1"/>
              <a:t>chuẩn</a:t>
            </a:r>
            <a:r>
              <a:rPr dirty="0"/>
              <a:t> </a:t>
            </a:r>
            <a:r>
              <a:rPr dirty="0" err="1"/>
              <a:t>hóa</a:t>
            </a:r>
            <a:r>
              <a:rPr dirty="0"/>
              <a:t>: Thông tin </a:t>
            </a:r>
            <a:r>
              <a:rPr dirty="0" err="1"/>
              <a:t>cá</a:t>
            </a:r>
            <a:r>
              <a:rPr dirty="0"/>
              <a:t> </a:t>
            </a:r>
            <a:r>
              <a:rPr dirty="0" err="1"/>
              <a:t>nhân</a:t>
            </a:r>
            <a:r>
              <a:rPr dirty="0"/>
              <a:t>, </a:t>
            </a:r>
            <a:r>
              <a:rPr dirty="0" err="1"/>
              <a:t>mục</a:t>
            </a:r>
            <a:r>
              <a:rPr dirty="0"/>
              <a:t> </a:t>
            </a:r>
            <a:r>
              <a:rPr dirty="0" err="1"/>
              <a:t>tiêu</a:t>
            </a:r>
            <a:r>
              <a:rPr dirty="0"/>
              <a:t>, </a:t>
            </a:r>
            <a:r>
              <a:rPr dirty="0" err="1"/>
              <a:t>học</a:t>
            </a:r>
            <a:r>
              <a:rPr dirty="0"/>
              <a:t> </a:t>
            </a:r>
            <a:r>
              <a:rPr dirty="0" err="1"/>
              <a:t>vấn</a:t>
            </a:r>
            <a:r>
              <a:rPr dirty="0"/>
              <a:t>, </a:t>
            </a:r>
            <a:r>
              <a:rPr dirty="0" err="1"/>
              <a:t>kinh</a:t>
            </a:r>
            <a:r>
              <a:rPr dirty="0"/>
              <a:t> </a:t>
            </a:r>
            <a:r>
              <a:rPr dirty="0" err="1"/>
              <a:t>nghiệm</a:t>
            </a:r>
            <a:r>
              <a:rPr dirty="0"/>
              <a:t>, </a:t>
            </a:r>
            <a:r>
              <a:rPr dirty="0" err="1"/>
              <a:t>kỹ</a:t>
            </a:r>
            <a:r>
              <a:rPr dirty="0"/>
              <a:t> </a:t>
            </a:r>
            <a:r>
              <a:rPr dirty="0" err="1"/>
              <a:t>năng</a:t>
            </a:r>
            <a:r>
              <a:rPr dirty="0"/>
              <a:t>, </a:t>
            </a:r>
            <a:r>
              <a:rPr dirty="0" err="1"/>
              <a:t>dự</a:t>
            </a:r>
            <a:r>
              <a:rPr dirty="0"/>
              <a:t> </a:t>
            </a:r>
            <a:r>
              <a:rPr dirty="0" err="1"/>
              <a:t>án</a:t>
            </a:r>
            <a:r>
              <a:rPr dirty="0"/>
              <a:t>, </a:t>
            </a:r>
            <a:r>
              <a:rPr dirty="0" err="1"/>
              <a:t>chứng</a:t>
            </a:r>
            <a:r>
              <a:rPr dirty="0"/>
              <a:t> </a:t>
            </a:r>
            <a:r>
              <a:rPr dirty="0" err="1"/>
              <a:t>chỉ</a:t>
            </a:r>
            <a:r>
              <a:rPr dirty="0"/>
              <a:t>.</a:t>
            </a:r>
          </a:p>
          <a:p>
            <a:pPr algn="just">
              <a:lnSpc>
                <a:spcPct val="200000"/>
              </a:lnSpc>
              <a:spcAft>
                <a:spcPts val="1200"/>
              </a:spcAft>
              <a:defRPr sz="1500">
                <a:solidFill>
                  <a:srgbClr val="475569"/>
                </a:solidFill>
                <a:latin typeface="Arial"/>
              </a:defRPr>
            </a:pPr>
            <a:r>
              <a:rPr dirty="0"/>
              <a:t>• Bảo </a:t>
            </a:r>
            <a:r>
              <a:rPr dirty="0" err="1"/>
              <a:t>toàn</a:t>
            </a:r>
            <a:r>
              <a:rPr dirty="0"/>
              <a:t> </a:t>
            </a:r>
            <a:r>
              <a:rPr dirty="0" err="1"/>
              <a:t>tính</a:t>
            </a:r>
            <a:r>
              <a:rPr dirty="0"/>
              <a:t> </a:t>
            </a:r>
            <a:r>
              <a:rPr dirty="0" err="1"/>
              <a:t>nhất</a:t>
            </a:r>
            <a:r>
              <a:rPr dirty="0"/>
              <a:t> </a:t>
            </a:r>
            <a:r>
              <a:rPr dirty="0" err="1"/>
              <a:t>quán</a:t>
            </a:r>
            <a:r>
              <a:rPr dirty="0"/>
              <a:t>: </a:t>
            </a:r>
            <a:r>
              <a:rPr dirty="0" err="1"/>
              <a:t>Toàn</a:t>
            </a:r>
            <a:r>
              <a:rPr dirty="0"/>
              <a:t> </a:t>
            </a:r>
            <a:r>
              <a:rPr dirty="0" err="1"/>
              <a:t>bộ</a:t>
            </a:r>
            <a:r>
              <a:rPr dirty="0"/>
              <a:t> </a:t>
            </a:r>
            <a:r>
              <a:rPr dirty="0" err="1"/>
              <a:t>quá</a:t>
            </a:r>
            <a:r>
              <a:rPr dirty="0"/>
              <a:t> </a:t>
            </a:r>
            <a:r>
              <a:rPr dirty="0" err="1"/>
              <a:t>trình</a:t>
            </a:r>
            <a:r>
              <a:rPr dirty="0"/>
              <a:t> </a:t>
            </a:r>
            <a:r>
              <a:rPr dirty="0" err="1"/>
              <a:t>lưu</a:t>
            </a:r>
            <a:r>
              <a:rPr dirty="0"/>
              <a:t> </a:t>
            </a:r>
            <a:r>
              <a:rPr dirty="0" err="1"/>
              <a:t>và</a:t>
            </a:r>
            <a:r>
              <a:rPr dirty="0"/>
              <a:t> </a:t>
            </a:r>
            <a:r>
              <a:rPr dirty="0" err="1"/>
              <a:t>cập</a:t>
            </a:r>
            <a:r>
              <a:rPr dirty="0"/>
              <a:t> </a:t>
            </a:r>
            <a:r>
              <a:rPr dirty="0" err="1"/>
              <a:t>nhật</a:t>
            </a:r>
            <a:r>
              <a:rPr dirty="0"/>
              <a:t> </a:t>
            </a:r>
            <a:r>
              <a:rPr dirty="0" err="1"/>
              <a:t>các</a:t>
            </a:r>
            <a:r>
              <a:rPr dirty="0"/>
              <a:t> </a:t>
            </a:r>
            <a:r>
              <a:rPr dirty="0" err="1"/>
              <a:t>bảng</a:t>
            </a:r>
            <a:r>
              <a:rPr dirty="0"/>
              <a:t> </a:t>
            </a:r>
            <a:r>
              <a:rPr dirty="0" err="1"/>
              <a:t>dữ</a:t>
            </a:r>
            <a:r>
              <a:rPr dirty="0"/>
              <a:t> </a:t>
            </a:r>
            <a:r>
              <a:rPr dirty="0" err="1"/>
              <a:t>liệu</a:t>
            </a:r>
            <a:r>
              <a:rPr dirty="0"/>
              <a:t> CV </a:t>
            </a:r>
            <a:r>
              <a:rPr dirty="0" err="1"/>
              <a:t>phụ</a:t>
            </a:r>
            <a:r>
              <a:rPr dirty="0"/>
              <a:t> </a:t>
            </a:r>
            <a:r>
              <a:rPr dirty="0" err="1"/>
              <a:t>thuộc</a:t>
            </a:r>
            <a:r>
              <a:rPr dirty="0"/>
              <a:t> </a:t>
            </a:r>
            <a:r>
              <a:rPr dirty="0" err="1"/>
              <a:t>được</a:t>
            </a:r>
            <a:r>
              <a:rPr dirty="0"/>
              <a:t> </a:t>
            </a:r>
            <a:r>
              <a:rPr dirty="0" err="1"/>
              <a:t>thực</a:t>
            </a:r>
            <a:r>
              <a:rPr dirty="0"/>
              <a:t> </a:t>
            </a:r>
            <a:r>
              <a:rPr dirty="0" err="1"/>
              <a:t>hiện</a:t>
            </a:r>
            <a:r>
              <a:rPr dirty="0"/>
              <a:t> qua Database Transactions.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D001283-C617-E871-4F05-8F0C16A99C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0399" y="1412642"/>
            <a:ext cx="4876801" cy="543974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75569"/>
                </a:solidFill>
                <a:latin typeface="Arial"/>
              </a:defRPr>
            </a:pPr>
            <a:r>
              <a:rPr lang="en-US" dirty="0"/>
              <a:t>CHƯƠNG</a:t>
            </a:r>
            <a:r>
              <a:rPr dirty="0"/>
              <a:t> 2: TÍNH NĂNG NGHIỆP VỤ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rial"/>
              </a:defRPr>
            </a:pPr>
            <a:r>
              <a:t>Không Gian Làm Việc Cho Nhà Tuyển Dụng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50691" y="1463039"/>
            <a:ext cx="3533130" cy="479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200000"/>
              </a:lnSpc>
              <a:spcAft>
                <a:spcPts val="1200"/>
              </a:spcAft>
              <a:defRPr sz="1500">
                <a:solidFill>
                  <a:srgbClr val="475569"/>
                </a:solidFill>
                <a:latin typeface="Arial"/>
              </a:defRPr>
            </a:pPr>
            <a:r>
              <a:rPr dirty="0"/>
              <a:t>• Dashboard </a:t>
            </a:r>
            <a:r>
              <a:rPr dirty="0" err="1"/>
              <a:t>phân</a:t>
            </a:r>
            <a:r>
              <a:rPr dirty="0"/>
              <a:t> </a:t>
            </a:r>
            <a:r>
              <a:rPr dirty="0" err="1"/>
              <a:t>tích</a:t>
            </a:r>
            <a:r>
              <a:rPr dirty="0"/>
              <a:t> </a:t>
            </a:r>
            <a:r>
              <a:rPr dirty="0" err="1"/>
              <a:t>thống</a:t>
            </a:r>
            <a:r>
              <a:rPr dirty="0"/>
              <a:t> </a:t>
            </a:r>
            <a:r>
              <a:rPr dirty="0" err="1"/>
              <a:t>kê</a:t>
            </a:r>
            <a:r>
              <a:rPr lang="en-US" dirty="0"/>
              <a:t>.</a:t>
            </a:r>
            <a:endParaRPr dirty="0"/>
          </a:p>
          <a:p>
            <a:pPr algn="just">
              <a:lnSpc>
                <a:spcPct val="200000"/>
              </a:lnSpc>
              <a:spcAft>
                <a:spcPts val="1200"/>
              </a:spcAft>
              <a:defRPr sz="1500">
                <a:solidFill>
                  <a:srgbClr val="475569"/>
                </a:solidFill>
                <a:latin typeface="Arial"/>
              </a:defRPr>
            </a:pPr>
            <a:r>
              <a:rPr dirty="0"/>
              <a:t>• </a:t>
            </a:r>
            <a:r>
              <a:rPr dirty="0" err="1"/>
              <a:t>Thống</a:t>
            </a:r>
            <a:r>
              <a:rPr dirty="0"/>
              <a:t> </a:t>
            </a:r>
            <a:r>
              <a:rPr dirty="0" err="1"/>
              <a:t>kê</a:t>
            </a:r>
            <a:r>
              <a:rPr dirty="0"/>
              <a:t> </a:t>
            </a:r>
            <a:r>
              <a:rPr dirty="0" err="1"/>
              <a:t>tổng</a:t>
            </a:r>
            <a:r>
              <a:rPr dirty="0"/>
              <a:t> </a:t>
            </a:r>
            <a:r>
              <a:rPr dirty="0" err="1"/>
              <a:t>lượng</a:t>
            </a:r>
            <a:r>
              <a:rPr dirty="0"/>
              <a:t> </a:t>
            </a:r>
            <a:r>
              <a:rPr dirty="0" err="1"/>
              <a:t>hồ</a:t>
            </a:r>
            <a:r>
              <a:rPr dirty="0"/>
              <a:t> </a:t>
            </a:r>
            <a:r>
              <a:rPr dirty="0" err="1"/>
              <a:t>sơ</a:t>
            </a:r>
            <a:r>
              <a:rPr dirty="0"/>
              <a:t> </a:t>
            </a:r>
            <a:r>
              <a:rPr dirty="0" err="1"/>
              <a:t>nhận</a:t>
            </a:r>
            <a:r>
              <a:rPr dirty="0"/>
              <a:t> </a:t>
            </a:r>
            <a:r>
              <a:rPr dirty="0" err="1"/>
              <a:t>được</a:t>
            </a:r>
            <a:r>
              <a:rPr dirty="0"/>
              <a:t>, </a:t>
            </a:r>
            <a:r>
              <a:rPr dirty="0" err="1"/>
              <a:t>phân</a:t>
            </a:r>
            <a:r>
              <a:rPr dirty="0"/>
              <a:t> </a:t>
            </a:r>
            <a:r>
              <a:rPr dirty="0" err="1"/>
              <a:t>loại</a:t>
            </a:r>
            <a:r>
              <a:rPr dirty="0"/>
              <a:t> </a:t>
            </a:r>
            <a:r>
              <a:rPr dirty="0" err="1"/>
              <a:t>lượng</a:t>
            </a:r>
            <a:r>
              <a:rPr dirty="0"/>
              <a:t> </a:t>
            </a:r>
            <a:r>
              <a:rPr dirty="0" err="1"/>
              <a:t>hồ</a:t>
            </a:r>
            <a:r>
              <a:rPr dirty="0"/>
              <a:t> </a:t>
            </a:r>
            <a:r>
              <a:rPr dirty="0" err="1"/>
              <a:t>sơ</a:t>
            </a:r>
            <a:r>
              <a:rPr dirty="0"/>
              <a:t> </a:t>
            </a:r>
            <a:r>
              <a:rPr dirty="0" err="1"/>
              <a:t>mới</a:t>
            </a:r>
            <a:r>
              <a:rPr dirty="0"/>
              <a:t> </a:t>
            </a:r>
            <a:r>
              <a:rPr dirty="0" err="1"/>
              <a:t>trong</a:t>
            </a:r>
            <a:r>
              <a:rPr dirty="0"/>
              <a:t> </a:t>
            </a:r>
            <a:r>
              <a:rPr dirty="0" err="1"/>
              <a:t>tuần</a:t>
            </a:r>
            <a:r>
              <a:rPr dirty="0"/>
              <a:t> </a:t>
            </a:r>
            <a:r>
              <a:rPr dirty="0" err="1"/>
              <a:t>tiện</a:t>
            </a:r>
            <a:r>
              <a:rPr dirty="0"/>
              <a:t> </a:t>
            </a:r>
            <a:r>
              <a:rPr dirty="0" err="1"/>
              <a:t>lợi</a:t>
            </a:r>
            <a:r>
              <a:rPr dirty="0"/>
              <a:t>.</a:t>
            </a:r>
          </a:p>
          <a:p>
            <a:pPr algn="just">
              <a:lnSpc>
                <a:spcPct val="200000"/>
              </a:lnSpc>
              <a:spcAft>
                <a:spcPts val="1200"/>
              </a:spcAft>
              <a:defRPr sz="1500">
                <a:solidFill>
                  <a:srgbClr val="475569"/>
                </a:solidFill>
                <a:latin typeface="Arial"/>
              </a:defRPr>
            </a:pPr>
            <a:r>
              <a:rPr dirty="0"/>
              <a:t>• </a:t>
            </a:r>
            <a:r>
              <a:rPr dirty="0" err="1"/>
              <a:t>Tính</a:t>
            </a:r>
            <a:r>
              <a:rPr dirty="0"/>
              <a:t> </a:t>
            </a:r>
            <a:r>
              <a:rPr dirty="0" err="1"/>
              <a:t>năng</a:t>
            </a:r>
            <a:r>
              <a:rPr dirty="0"/>
              <a:t> </a:t>
            </a:r>
            <a:r>
              <a:rPr dirty="0" err="1"/>
              <a:t>quản</a:t>
            </a:r>
            <a:r>
              <a:rPr dirty="0"/>
              <a:t> </a:t>
            </a:r>
            <a:r>
              <a:rPr dirty="0" err="1"/>
              <a:t>trị</a:t>
            </a:r>
            <a:r>
              <a:rPr dirty="0"/>
              <a:t> tin</a:t>
            </a:r>
            <a:r>
              <a:rPr lang="en-US" dirty="0"/>
              <a:t>.</a:t>
            </a:r>
            <a:endParaRPr dirty="0"/>
          </a:p>
          <a:p>
            <a:pPr algn="just">
              <a:lnSpc>
                <a:spcPct val="200000"/>
              </a:lnSpc>
              <a:spcAft>
                <a:spcPts val="1200"/>
              </a:spcAft>
              <a:defRPr sz="1500">
                <a:solidFill>
                  <a:srgbClr val="475569"/>
                </a:solidFill>
                <a:latin typeface="Arial"/>
              </a:defRPr>
            </a:pPr>
            <a:r>
              <a:rPr dirty="0"/>
              <a:t>• </a:t>
            </a:r>
            <a:r>
              <a:rPr dirty="0" err="1"/>
              <a:t>Xử</a:t>
            </a:r>
            <a:r>
              <a:rPr dirty="0"/>
              <a:t> </a:t>
            </a:r>
            <a:r>
              <a:rPr dirty="0" err="1"/>
              <a:t>lý</a:t>
            </a:r>
            <a:r>
              <a:rPr dirty="0"/>
              <a:t> </a:t>
            </a:r>
            <a:r>
              <a:rPr dirty="0" err="1"/>
              <a:t>và</a:t>
            </a:r>
            <a:r>
              <a:rPr dirty="0"/>
              <a:t> </a:t>
            </a:r>
            <a:r>
              <a:rPr dirty="0" err="1"/>
              <a:t>sàng</a:t>
            </a:r>
            <a:r>
              <a:rPr dirty="0"/>
              <a:t> </a:t>
            </a:r>
            <a:r>
              <a:rPr dirty="0" err="1"/>
              <a:t>lọc</a:t>
            </a:r>
            <a:r>
              <a:rPr dirty="0"/>
              <a:t> </a:t>
            </a:r>
            <a:r>
              <a:rPr dirty="0" err="1"/>
              <a:t>hồ</a:t>
            </a:r>
            <a:r>
              <a:rPr dirty="0"/>
              <a:t> </a:t>
            </a:r>
            <a:r>
              <a:rPr dirty="0" err="1"/>
              <a:t>sơ</a:t>
            </a:r>
            <a:r>
              <a:rPr dirty="0"/>
              <a:t> </a:t>
            </a:r>
            <a:r>
              <a:rPr dirty="0" err="1"/>
              <a:t>ứng</a:t>
            </a:r>
            <a:r>
              <a:rPr dirty="0"/>
              <a:t> </a:t>
            </a:r>
            <a:r>
              <a:rPr dirty="0" err="1"/>
              <a:t>tuyển</a:t>
            </a:r>
            <a:r>
              <a:rPr lang="en-US" dirty="0"/>
              <a:t>.</a:t>
            </a:r>
            <a:endParaRPr dirty="0"/>
          </a:p>
          <a:p>
            <a:pPr algn="just">
              <a:lnSpc>
                <a:spcPct val="200000"/>
              </a:lnSpc>
              <a:spcAft>
                <a:spcPts val="1200"/>
              </a:spcAft>
              <a:defRPr sz="1500">
                <a:solidFill>
                  <a:srgbClr val="475569"/>
                </a:solidFill>
                <a:latin typeface="Arial"/>
              </a:defRPr>
            </a:pPr>
            <a:r>
              <a:rPr dirty="0"/>
              <a:t>• </a:t>
            </a:r>
            <a:r>
              <a:rPr dirty="0" err="1"/>
              <a:t>Hỗ</a:t>
            </a:r>
            <a:r>
              <a:rPr dirty="0"/>
              <a:t> </a:t>
            </a:r>
            <a:r>
              <a:rPr dirty="0" err="1"/>
              <a:t>trợ</a:t>
            </a:r>
            <a:r>
              <a:rPr dirty="0"/>
              <a:t> </a:t>
            </a:r>
            <a:r>
              <a:rPr dirty="0" err="1"/>
              <a:t>ghi</a:t>
            </a:r>
            <a:r>
              <a:rPr dirty="0"/>
              <a:t> </a:t>
            </a:r>
            <a:r>
              <a:rPr dirty="0" err="1"/>
              <a:t>chú</a:t>
            </a:r>
            <a:r>
              <a:rPr dirty="0"/>
              <a:t> </a:t>
            </a:r>
            <a:r>
              <a:rPr dirty="0" err="1"/>
              <a:t>nội</a:t>
            </a:r>
            <a:r>
              <a:rPr dirty="0"/>
              <a:t> </a:t>
            </a:r>
            <a:r>
              <a:rPr dirty="0" err="1"/>
              <a:t>bộ</a:t>
            </a:r>
            <a:r>
              <a:rPr dirty="0"/>
              <a:t> </a:t>
            </a:r>
            <a:r>
              <a:rPr dirty="0" err="1"/>
              <a:t>của</a:t>
            </a:r>
            <a:r>
              <a:rPr dirty="0"/>
              <a:t> </a:t>
            </a:r>
            <a:r>
              <a:rPr dirty="0" err="1"/>
              <a:t>phòng</a:t>
            </a:r>
            <a:r>
              <a:rPr dirty="0"/>
              <a:t> ban </a:t>
            </a:r>
            <a:r>
              <a:rPr dirty="0" err="1"/>
              <a:t>nhân</a:t>
            </a:r>
            <a:r>
              <a:rPr dirty="0"/>
              <a:t> </a:t>
            </a:r>
            <a:r>
              <a:rPr dirty="0" err="1"/>
              <a:t>sự</a:t>
            </a:r>
            <a:r>
              <a:rPr dirty="0"/>
              <a:t> (HR) </a:t>
            </a:r>
            <a:r>
              <a:rPr dirty="0" err="1"/>
              <a:t>và</a:t>
            </a:r>
            <a:r>
              <a:rPr dirty="0"/>
              <a:t> </a:t>
            </a:r>
            <a:r>
              <a:rPr dirty="0" err="1"/>
              <a:t>đặt</a:t>
            </a:r>
            <a:r>
              <a:rPr dirty="0"/>
              <a:t> </a:t>
            </a:r>
            <a:r>
              <a:rPr dirty="0" err="1"/>
              <a:t>lịch</a:t>
            </a:r>
            <a:r>
              <a:rPr dirty="0"/>
              <a:t> </a:t>
            </a:r>
            <a:r>
              <a:rPr dirty="0" err="1"/>
              <a:t>hẹn</a:t>
            </a:r>
            <a:r>
              <a:rPr dirty="0"/>
              <a:t> </a:t>
            </a:r>
            <a:r>
              <a:rPr dirty="0" err="1"/>
              <a:t>phỏng</a:t>
            </a:r>
            <a:r>
              <a:rPr dirty="0"/>
              <a:t> </a:t>
            </a:r>
            <a:r>
              <a:rPr dirty="0" err="1"/>
              <a:t>vấn</a:t>
            </a:r>
            <a:r>
              <a:rPr dirty="0"/>
              <a:t> </a:t>
            </a:r>
            <a:r>
              <a:rPr dirty="0" err="1"/>
              <a:t>trực</a:t>
            </a:r>
            <a:r>
              <a:rPr dirty="0"/>
              <a:t> </a:t>
            </a:r>
            <a:r>
              <a:rPr dirty="0" err="1"/>
              <a:t>tuyến</a:t>
            </a:r>
            <a:r>
              <a:rPr dirty="0"/>
              <a:t>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07C1155-8433-3AC0-0D3E-D13F14E7A3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3821" y="1463039"/>
            <a:ext cx="8108179" cy="373989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75569"/>
                </a:solidFill>
                <a:latin typeface="Arial"/>
              </a:defRPr>
            </a:pPr>
            <a:r>
              <a:rPr lang="en-US" dirty="0"/>
              <a:t>CHƯƠNG</a:t>
            </a:r>
            <a:r>
              <a:rPr dirty="0"/>
              <a:t> 2: TÍNH NĂNG NGHIỆP VỤ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rial"/>
              </a:defRPr>
            </a:pPr>
            <a:r>
              <a:t>Chức Năng Dành Cho Quản Trị Viên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2468880" cy="38404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2194560"/>
            <a:ext cx="21945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2563EB"/>
                </a:solidFill>
                <a:latin typeface="Arial"/>
              </a:defRPr>
            </a:pPr>
            <a:r>
              <a:t>Thống Kê Tổng Quan</a:t>
            </a:r>
          </a:p>
          <a:p>
            <a:pPr>
              <a:lnSpc>
                <a:spcPct val="130000"/>
              </a:lnSpc>
              <a:defRPr sz="1300">
                <a:solidFill>
                  <a:srgbClr val="475569"/>
                </a:solidFill>
                <a:latin typeface="Arial"/>
              </a:defRPr>
            </a:pPr>
            <a:r>
              <a:t>Giám sát trực quan biểu đồ người dùng mới, sự tăng trưởng doanh nghiệp và lượng hồ sơ thành công.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2011680"/>
            <a:ext cx="2468880" cy="38404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11880" y="2194560"/>
            <a:ext cx="21945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D9488"/>
                </a:solidFill>
                <a:latin typeface="Arial"/>
              </a:defRPr>
            </a:pPr>
            <a:r>
              <a:t>Quản Lý Tài Khoản</a:t>
            </a:r>
          </a:p>
          <a:p>
            <a:pPr>
              <a:lnSpc>
                <a:spcPct val="130000"/>
              </a:lnSpc>
              <a:defRPr sz="1300">
                <a:solidFill>
                  <a:srgbClr val="475569"/>
                </a:solidFill>
                <a:latin typeface="Arial"/>
              </a:defRPr>
            </a:pPr>
            <a:r>
              <a:t>Mở/Khóa tài khoản vi phạm chính sách. Cơ chế bảo vệ tránh việc Admin tự khóa chính mình.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011680"/>
            <a:ext cx="2468880" cy="38404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55080" y="2194560"/>
            <a:ext cx="21945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F172A"/>
                </a:solidFill>
                <a:latin typeface="Arial"/>
              </a:defRPr>
            </a:pPr>
            <a:r>
              <a:t>Kiểm Soát Danh Mục</a:t>
            </a:r>
          </a:p>
          <a:p>
            <a:pPr>
              <a:lnSpc>
                <a:spcPct val="130000"/>
              </a:lnSpc>
              <a:defRPr sz="1300">
                <a:solidFill>
                  <a:srgbClr val="475569"/>
                </a:solidFill>
                <a:latin typeface="Arial"/>
              </a:defRPr>
            </a:pPr>
            <a:r>
              <a:t>Quản lý tập trung toàn diện danh mục: ngành nghề cốt lõi, địa điểm, cấp bậc và loại hình làm việc.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2011680"/>
            <a:ext cx="2468880" cy="38404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098280" y="2194560"/>
            <a:ext cx="21945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475569"/>
                </a:solidFill>
                <a:latin typeface="Arial"/>
              </a:defRPr>
            </a:pPr>
            <a:r>
              <a:t>Audit Logs (Nhật Ký)</a:t>
            </a:r>
          </a:p>
          <a:p>
            <a:pPr>
              <a:lnSpc>
                <a:spcPct val="130000"/>
              </a:lnSpc>
              <a:defRPr sz="1300">
                <a:solidFill>
                  <a:srgbClr val="475569"/>
                </a:solidFill>
                <a:latin typeface="Arial"/>
              </a:defRPr>
            </a:pPr>
            <a:r>
              <a:t>Ghi nhận chi tiết vết thao tác của quản trị viên (Hành động, IP, Thời gian, Dữ liệu thay đổi).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75569"/>
                </a:solidFill>
                <a:latin typeface="Arial"/>
              </a:defRPr>
            </a:pPr>
            <a:r>
              <a:rPr lang="en-US" dirty="0"/>
              <a:t>CHƯƠNG</a:t>
            </a:r>
            <a:r>
              <a:rPr dirty="0"/>
              <a:t> 3: QUY TRÌNH NGHIỆP VỤ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rial"/>
              </a:defRPr>
            </a:pPr>
            <a:r>
              <a:t>Quy Trình Sàng Lọc &amp; Xử Lý Hồ Sơ Ứng Tuyển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75569"/>
                </a:solidFill>
                <a:latin typeface="Arial"/>
              </a:defRPr>
            </a:pPr>
            <a:r>
              <a:t>Quy trình chuyển đổi trạng thái hồ sơ của ứng viên được đồng bộ tự động và thông suốt giữa các bộ phận: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3291840"/>
            <a:ext cx="9418320" cy="3657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463040" y="2834640"/>
            <a:ext cx="914400" cy="9144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2563EB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931920"/>
            <a:ext cx="2377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600" b="1">
                <a:solidFill>
                  <a:srgbClr val="0F172A"/>
                </a:solidFill>
                <a:latin typeface="Arial"/>
              </a:defRPr>
            </a:pPr>
            <a:r>
              <a:t>Nộp đơn</a:t>
            </a:r>
          </a:p>
          <a:p>
            <a:pPr algn="ctr">
              <a:defRPr sz="1200">
                <a:solidFill>
                  <a:srgbClr val="475569"/>
                </a:solidFill>
                <a:latin typeface="Arial"/>
              </a:defRPr>
            </a:pPr>
            <a:r>
              <a:t>Chọn CV trực tuyến hoặc tải tệp PDF lên</a:t>
            </a:r>
          </a:p>
        </p:txBody>
      </p:sp>
      <p:sp>
        <p:nvSpPr>
          <p:cNvPr id="9" name="Oval 8"/>
          <p:cNvSpPr/>
          <p:nvPr/>
        </p:nvSpPr>
        <p:spPr>
          <a:xfrm>
            <a:off x="3657600" y="2834640"/>
            <a:ext cx="914400" cy="9144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2563EB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3931920"/>
            <a:ext cx="2377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600" b="1">
                <a:solidFill>
                  <a:srgbClr val="0F172A"/>
                </a:solidFill>
                <a:latin typeface="Arial"/>
              </a:defRPr>
            </a:pPr>
            <a:r>
              <a:t>Chờ xử lý</a:t>
            </a:r>
          </a:p>
          <a:p>
            <a:pPr algn="ctr">
              <a:defRPr sz="1200">
                <a:solidFill>
                  <a:srgbClr val="475569"/>
                </a:solidFill>
                <a:latin typeface="Arial"/>
              </a:defRPr>
            </a:pPr>
            <a:r>
              <a:t>Hồ sơ mới nộp (Ứng viên có quyền tự hủy đơn)</a:t>
            </a:r>
          </a:p>
        </p:txBody>
      </p:sp>
      <p:sp>
        <p:nvSpPr>
          <p:cNvPr id="11" name="Oval 10"/>
          <p:cNvSpPr/>
          <p:nvPr/>
        </p:nvSpPr>
        <p:spPr>
          <a:xfrm>
            <a:off x="5852160" y="2834640"/>
            <a:ext cx="914400" cy="9144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2563EB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3931920"/>
            <a:ext cx="2377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600" b="1">
                <a:solidFill>
                  <a:srgbClr val="0F172A"/>
                </a:solidFill>
                <a:latin typeface="Arial"/>
              </a:defRPr>
            </a:pPr>
            <a:r>
              <a:t>Đã xem</a:t>
            </a:r>
          </a:p>
          <a:p>
            <a:pPr algn="ctr">
              <a:defRPr sz="1200">
                <a:solidFill>
                  <a:srgbClr val="475569"/>
                </a:solidFill>
                <a:latin typeface="Arial"/>
              </a:defRPr>
            </a:pPr>
            <a:r>
              <a:t>Nhà tuyển dụng truy cập chi tiết CV</a:t>
            </a:r>
          </a:p>
        </p:txBody>
      </p:sp>
      <p:sp>
        <p:nvSpPr>
          <p:cNvPr id="13" name="Oval 12"/>
          <p:cNvSpPr/>
          <p:nvPr/>
        </p:nvSpPr>
        <p:spPr>
          <a:xfrm>
            <a:off x="8046719" y="2834640"/>
            <a:ext cx="914400" cy="9144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2563EB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199" y="3931920"/>
            <a:ext cx="2377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600" b="1">
                <a:solidFill>
                  <a:srgbClr val="0F172A"/>
                </a:solidFill>
                <a:latin typeface="Arial"/>
              </a:defRPr>
            </a:pPr>
            <a:r>
              <a:t>Phỏng vấn</a:t>
            </a:r>
          </a:p>
          <a:p>
            <a:pPr algn="ctr">
              <a:defRPr sz="1200">
                <a:solidFill>
                  <a:srgbClr val="475569"/>
                </a:solidFill>
                <a:latin typeface="Arial"/>
              </a:defRPr>
            </a:pPr>
            <a:r>
              <a:t>Hẹn lịch phỏng vấn chi tiết qua ứng dụng</a:t>
            </a:r>
          </a:p>
        </p:txBody>
      </p:sp>
      <p:sp>
        <p:nvSpPr>
          <p:cNvPr id="15" name="Oval 14"/>
          <p:cNvSpPr/>
          <p:nvPr/>
        </p:nvSpPr>
        <p:spPr>
          <a:xfrm>
            <a:off x="10241280" y="2834640"/>
            <a:ext cx="914400" cy="9144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2563EB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09760" y="3931920"/>
            <a:ext cx="2377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600" b="1">
                <a:solidFill>
                  <a:srgbClr val="0F172A"/>
                </a:solidFill>
                <a:latin typeface="Arial"/>
              </a:defRPr>
            </a:pPr>
            <a:r>
              <a:t>Kết quả</a:t>
            </a:r>
          </a:p>
          <a:p>
            <a:pPr algn="ctr">
              <a:defRPr sz="1200">
                <a:solidFill>
                  <a:srgbClr val="475569"/>
                </a:solidFill>
                <a:latin typeface="Arial"/>
              </a:defRPr>
            </a:pPr>
            <a:r>
              <a:t>Xác nhận Đạt hoặc Từ chối kèm thư nhắn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75569"/>
                </a:solidFill>
                <a:latin typeface="Arial"/>
              </a:defRPr>
            </a:pPr>
            <a:r>
              <a:rPr lang="en-US" dirty="0"/>
              <a:t>CHƯƠNG</a:t>
            </a:r>
            <a:r>
              <a:rPr dirty="0"/>
              <a:t> </a:t>
            </a:r>
            <a:r>
              <a:rPr lang="en-US" dirty="0"/>
              <a:t>3</a:t>
            </a:r>
            <a:r>
              <a:rPr dirty="0"/>
              <a:t>: KIẾN TRÚC KỸ THUẬT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rial"/>
              </a:defRPr>
            </a:pPr>
            <a:r>
              <a:t>Kiến Trúc Hệ Thống &amp; Ngôn Ngữ Công Nghệ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9447" y="1711446"/>
            <a:ext cx="5486400" cy="3435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1200"/>
              </a:spcAft>
              <a:defRPr sz="1500">
                <a:solidFill>
                  <a:srgbClr val="475569"/>
                </a:solidFill>
                <a:latin typeface="Arial"/>
              </a:defRPr>
            </a:pPr>
            <a:r>
              <a:rPr dirty="0"/>
              <a:t>• </a:t>
            </a:r>
            <a:r>
              <a:rPr dirty="0" err="1"/>
              <a:t>Mô</a:t>
            </a:r>
            <a:r>
              <a:rPr dirty="0"/>
              <a:t> </a:t>
            </a:r>
            <a:r>
              <a:rPr dirty="0" err="1"/>
              <a:t>hình</a:t>
            </a:r>
            <a:r>
              <a:rPr dirty="0"/>
              <a:t> </a:t>
            </a:r>
            <a:r>
              <a:rPr dirty="0" err="1"/>
              <a:t>kiến</a:t>
            </a:r>
            <a:r>
              <a:rPr dirty="0"/>
              <a:t> </a:t>
            </a:r>
            <a:r>
              <a:rPr dirty="0" err="1"/>
              <a:t>trúc</a:t>
            </a:r>
            <a:r>
              <a:rPr dirty="0"/>
              <a:t>: RESTful API.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500">
                <a:solidFill>
                  <a:srgbClr val="475569"/>
                </a:solidFill>
                <a:latin typeface="Arial"/>
              </a:defRPr>
            </a:pPr>
            <a:r>
              <a:rPr dirty="0"/>
              <a:t>• </a:t>
            </a:r>
            <a:r>
              <a:rPr dirty="0" err="1"/>
              <a:t>Ngôn</a:t>
            </a:r>
            <a:r>
              <a:rPr dirty="0"/>
              <a:t> </a:t>
            </a:r>
            <a:r>
              <a:rPr dirty="0" err="1"/>
              <a:t>ngữ</a:t>
            </a:r>
            <a:r>
              <a:rPr dirty="0"/>
              <a:t> &amp; Framework </a:t>
            </a:r>
            <a:r>
              <a:rPr dirty="0" err="1"/>
              <a:t>chính</a:t>
            </a:r>
            <a:r>
              <a:rPr dirty="0"/>
              <a:t>: </a:t>
            </a:r>
            <a:r>
              <a:rPr dirty="0" err="1"/>
              <a:t>Sử</a:t>
            </a:r>
            <a:r>
              <a:rPr dirty="0"/>
              <a:t> </a:t>
            </a:r>
            <a:r>
              <a:rPr dirty="0" err="1"/>
              <a:t>dụng</a:t>
            </a:r>
            <a:r>
              <a:rPr dirty="0"/>
              <a:t> </a:t>
            </a:r>
            <a:r>
              <a:rPr dirty="0" err="1"/>
              <a:t>ngôn</a:t>
            </a:r>
            <a:r>
              <a:rPr dirty="0"/>
              <a:t> </a:t>
            </a:r>
            <a:r>
              <a:rPr dirty="0" err="1"/>
              <a:t>ngữ</a:t>
            </a:r>
            <a:r>
              <a:rPr dirty="0"/>
              <a:t> PHP</a:t>
            </a:r>
            <a:r>
              <a:rPr lang="en-US" dirty="0"/>
              <a:t>, </a:t>
            </a:r>
            <a:r>
              <a:rPr dirty="0"/>
              <a:t>framework</a:t>
            </a:r>
            <a:r>
              <a:rPr lang="en-US" dirty="0"/>
              <a:t> </a:t>
            </a:r>
            <a:r>
              <a:rPr dirty="0"/>
              <a:t>Laravel 10.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500">
                <a:solidFill>
                  <a:srgbClr val="475569"/>
                </a:solidFill>
                <a:latin typeface="Arial"/>
              </a:defRPr>
            </a:pPr>
            <a:r>
              <a:rPr dirty="0"/>
              <a:t>• </a:t>
            </a:r>
            <a:r>
              <a:rPr dirty="0" err="1"/>
              <a:t>Cơ</a:t>
            </a:r>
            <a:r>
              <a:rPr dirty="0"/>
              <a:t> </a:t>
            </a:r>
            <a:r>
              <a:rPr dirty="0" err="1"/>
              <a:t>sở</a:t>
            </a:r>
            <a:r>
              <a:rPr dirty="0"/>
              <a:t> </a:t>
            </a:r>
            <a:r>
              <a:rPr dirty="0" err="1"/>
              <a:t>dữ</a:t>
            </a:r>
            <a:r>
              <a:rPr dirty="0"/>
              <a:t> </a:t>
            </a:r>
            <a:r>
              <a:rPr dirty="0" err="1"/>
              <a:t>liệu</a:t>
            </a:r>
            <a:r>
              <a:rPr dirty="0"/>
              <a:t>: MySQL</a:t>
            </a:r>
            <a:endParaRPr lang="en-US" dirty="0"/>
          </a:p>
          <a:p>
            <a:pPr>
              <a:lnSpc>
                <a:spcPct val="150000"/>
              </a:lnSpc>
              <a:spcAft>
                <a:spcPts val="1200"/>
              </a:spcAft>
              <a:defRPr sz="1500">
                <a:solidFill>
                  <a:srgbClr val="475569"/>
                </a:solidFill>
                <a:latin typeface="Arial"/>
              </a:defRPr>
            </a:pPr>
            <a:r>
              <a:rPr dirty="0"/>
              <a:t>• </a:t>
            </a:r>
            <a:r>
              <a:rPr dirty="0" err="1"/>
              <a:t>Xử</a:t>
            </a:r>
            <a:r>
              <a:rPr dirty="0"/>
              <a:t> </a:t>
            </a:r>
            <a:r>
              <a:rPr dirty="0" err="1"/>
              <a:t>lý</a:t>
            </a:r>
            <a:r>
              <a:rPr dirty="0"/>
              <a:t> </a:t>
            </a:r>
            <a:r>
              <a:rPr dirty="0" err="1"/>
              <a:t>thời</a:t>
            </a:r>
            <a:r>
              <a:rPr dirty="0"/>
              <a:t> </a:t>
            </a:r>
            <a:r>
              <a:rPr dirty="0" err="1"/>
              <a:t>gian</a:t>
            </a:r>
            <a:r>
              <a:rPr dirty="0"/>
              <a:t> </a:t>
            </a:r>
            <a:r>
              <a:rPr dirty="0" err="1"/>
              <a:t>thực</a:t>
            </a:r>
            <a:r>
              <a:rPr dirty="0"/>
              <a:t>:</a:t>
            </a:r>
            <a:r>
              <a:rPr lang="en-US" dirty="0"/>
              <a:t> </a:t>
            </a:r>
            <a:r>
              <a:rPr dirty="0"/>
              <a:t>Redis Cache </a:t>
            </a:r>
            <a:r>
              <a:rPr dirty="0" err="1"/>
              <a:t>và</a:t>
            </a:r>
            <a:r>
              <a:rPr dirty="0"/>
              <a:t> Server Socket.IO, Pusher.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500">
                <a:solidFill>
                  <a:srgbClr val="475569"/>
                </a:solidFill>
                <a:latin typeface="Arial"/>
              </a:defRPr>
            </a:pPr>
            <a:r>
              <a:rPr dirty="0"/>
              <a:t>• </a:t>
            </a:r>
            <a:r>
              <a:rPr dirty="0" err="1"/>
              <a:t>Kiểm</a:t>
            </a:r>
            <a:r>
              <a:rPr dirty="0"/>
              <a:t> </a:t>
            </a:r>
            <a:r>
              <a:rPr dirty="0" err="1"/>
              <a:t>thử</a:t>
            </a:r>
            <a:r>
              <a:rPr dirty="0"/>
              <a:t> </a:t>
            </a:r>
            <a:r>
              <a:rPr dirty="0" err="1"/>
              <a:t>bảo</a:t>
            </a:r>
            <a:r>
              <a:rPr dirty="0"/>
              <a:t> </a:t>
            </a:r>
            <a:r>
              <a:rPr dirty="0" err="1"/>
              <a:t>mật</a:t>
            </a:r>
            <a:r>
              <a:rPr dirty="0"/>
              <a:t>: </a:t>
            </a:r>
            <a:r>
              <a:rPr dirty="0" err="1"/>
              <a:t>Bộ</a:t>
            </a:r>
            <a:r>
              <a:rPr dirty="0"/>
              <a:t> </a:t>
            </a:r>
            <a:r>
              <a:rPr dirty="0" err="1"/>
              <a:t>công</a:t>
            </a:r>
            <a:r>
              <a:rPr dirty="0"/>
              <a:t> </a:t>
            </a:r>
            <a:r>
              <a:rPr dirty="0" err="1"/>
              <a:t>cụ</a:t>
            </a:r>
            <a:r>
              <a:rPr dirty="0"/>
              <a:t> </a:t>
            </a:r>
            <a:r>
              <a:rPr dirty="0" err="1"/>
              <a:t>kiểm</a:t>
            </a:r>
            <a:r>
              <a:rPr dirty="0"/>
              <a:t> </a:t>
            </a:r>
            <a:r>
              <a:rPr dirty="0" err="1"/>
              <a:t>thử</a:t>
            </a:r>
            <a:r>
              <a:rPr dirty="0"/>
              <a:t> </a:t>
            </a:r>
            <a:r>
              <a:rPr dirty="0" err="1"/>
              <a:t>tự</a:t>
            </a:r>
            <a:r>
              <a:rPr dirty="0"/>
              <a:t> </a:t>
            </a:r>
            <a:r>
              <a:rPr dirty="0" err="1"/>
              <a:t>động</a:t>
            </a:r>
            <a:r>
              <a:rPr dirty="0"/>
              <a:t> </a:t>
            </a:r>
            <a:r>
              <a:rPr dirty="0" err="1"/>
              <a:t>PHPUnit</a:t>
            </a:r>
            <a:r>
              <a:rPr dirty="0"/>
              <a:t> </a:t>
            </a:r>
            <a:r>
              <a:rPr dirty="0" err="1"/>
              <a:t>kiểm</a:t>
            </a:r>
            <a:r>
              <a:rPr dirty="0"/>
              <a:t> </a:t>
            </a:r>
            <a:r>
              <a:rPr dirty="0" err="1"/>
              <a:t>soát</a:t>
            </a:r>
            <a:r>
              <a:rPr dirty="0"/>
              <a:t> </a:t>
            </a:r>
            <a:r>
              <a:rPr dirty="0" err="1"/>
              <a:t>tính</a:t>
            </a:r>
            <a:r>
              <a:rPr dirty="0"/>
              <a:t> </a:t>
            </a:r>
            <a:r>
              <a:rPr dirty="0" err="1"/>
              <a:t>đúng</a:t>
            </a:r>
            <a:r>
              <a:rPr dirty="0"/>
              <a:t> </a:t>
            </a:r>
            <a:r>
              <a:rPr dirty="0" err="1"/>
              <a:t>đắn</a:t>
            </a:r>
            <a:r>
              <a:rPr dirty="0"/>
              <a:t> </a:t>
            </a:r>
            <a:r>
              <a:rPr dirty="0" err="1"/>
              <a:t>của</a:t>
            </a:r>
            <a:r>
              <a:rPr dirty="0"/>
              <a:t> </a:t>
            </a:r>
            <a:r>
              <a:rPr dirty="0" err="1"/>
              <a:t>các</a:t>
            </a:r>
            <a:r>
              <a:rPr dirty="0"/>
              <a:t> API.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8C7139E-1D4F-DCD0-B961-A77E437F776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847" y="1645920"/>
            <a:ext cx="5764530" cy="345948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75569"/>
                </a:solidFill>
                <a:latin typeface="Arial"/>
              </a:defRPr>
            </a:pPr>
            <a:r>
              <a:rPr lang="en-US" dirty="0"/>
              <a:t>CHƯƠNG</a:t>
            </a:r>
            <a:r>
              <a:rPr dirty="0"/>
              <a:t> </a:t>
            </a:r>
            <a:r>
              <a:rPr lang="en-US" dirty="0"/>
              <a:t>3</a:t>
            </a:r>
            <a:r>
              <a:rPr dirty="0"/>
              <a:t>: KIẾN TRÚC KỸ THUẬT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rial"/>
              </a:defRPr>
            </a:pPr>
            <a:r>
              <a:t>Mô Hình Thực Thể Quan Hệ (ERD) Cốt Lõi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2E47B4B-A08F-318E-AB83-33079AC322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0250" y="1461896"/>
            <a:ext cx="8692515" cy="526035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75569"/>
                </a:solidFill>
                <a:latin typeface="Arial"/>
              </a:defRPr>
            </a:pPr>
            <a:r>
              <a:rPr lang="en-US" dirty="0"/>
              <a:t>CHƯƠNG 3</a:t>
            </a:r>
            <a:r>
              <a:rPr dirty="0"/>
              <a:t>: KIẾN TRÚC KỸ THUẬT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rial"/>
              </a:defRPr>
            </a:pPr>
            <a:r>
              <a:t>Bảo Mật Hệ Thống &amp; Tính Đúng Đắn Dữ Liệu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28655" cy="43295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200000"/>
              </a:lnSpc>
              <a:spcAft>
                <a:spcPts val="1200"/>
              </a:spcAft>
              <a:defRPr sz="1500">
                <a:solidFill>
                  <a:srgbClr val="475569"/>
                </a:solidFill>
                <a:latin typeface="Arial"/>
              </a:defRPr>
            </a:pPr>
            <a:r>
              <a:rPr dirty="0"/>
              <a:t>• </a:t>
            </a:r>
            <a:r>
              <a:rPr dirty="0" err="1"/>
              <a:t>Mã</a:t>
            </a:r>
            <a:r>
              <a:rPr dirty="0"/>
              <a:t> </a:t>
            </a:r>
            <a:r>
              <a:rPr dirty="0" err="1"/>
              <a:t>hóa</a:t>
            </a:r>
            <a:r>
              <a:rPr dirty="0"/>
              <a:t> </a:t>
            </a:r>
            <a:r>
              <a:rPr dirty="0" err="1"/>
              <a:t>mật</a:t>
            </a:r>
            <a:r>
              <a:rPr dirty="0"/>
              <a:t> </a:t>
            </a:r>
            <a:r>
              <a:rPr dirty="0" err="1"/>
              <a:t>khẩu</a:t>
            </a:r>
            <a:r>
              <a:rPr dirty="0"/>
              <a:t> </a:t>
            </a:r>
            <a:r>
              <a:rPr dirty="0" err="1"/>
              <a:t>một</a:t>
            </a:r>
            <a:r>
              <a:rPr dirty="0"/>
              <a:t> </a:t>
            </a:r>
            <a:r>
              <a:rPr dirty="0" err="1"/>
              <a:t>chiều</a:t>
            </a:r>
            <a:r>
              <a:rPr lang="vi-VN" dirty="0"/>
              <a:t>: Sử dụng thuật toán Bcrypt tự động băm mật khẩu của mọi tài khoản trước khi lưu.</a:t>
            </a:r>
          </a:p>
          <a:p>
            <a:pPr algn="just">
              <a:lnSpc>
                <a:spcPct val="200000"/>
              </a:lnSpc>
              <a:spcAft>
                <a:spcPts val="1200"/>
              </a:spcAft>
              <a:defRPr sz="1500">
                <a:solidFill>
                  <a:srgbClr val="475569"/>
                </a:solidFill>
                <a:latin typeface="Arial"/>
              </a:defRPr>
            </a:pPr>
            <a:r>
              <a:rPr lang="vi-VN" dirty="0"/>
              <a:t>• Bảo vệ API bằng Token: Ngăn chặn truy cập bất hợp pháp bằng cách lọc quyền hạn yêu cầu JWT Stateless API.</a:t>
            </a:r>
          </a:p>
          <a:p>
            <a:pPr algn="just">
              <a:lnSpc>
                <a:spcPct val="200000"/>
              </a:lnSpc>
              <a:spcAft>
                <a:spcPts val="1200"/>
              </a:spcAft>
              <a:defRPr sz="1500">
                <a:solidFill>
                  <a:srgbClr val="475569"/>
                </a:solidFill>
                <a:latin typeface="Arial"/>
              </a:defRPr>
            </a:pPr>
            <a:r>
              <a:rPr lang="vi-VN" dirty="0"/>
              <a:t>• Cô lập quyền hạn dữ liệu (Authorize): Nhà tuyển dụng chỉ được chỉnh sửa thông tin hoặc xem ứng viên thuộc tin tuyển dụng của công ty mình; Ứng viên chỉ chỉnh sửa được CV thuộc sở hữu cá nhân.</a:t>
            </a:r>
          </a:p>
          <a:p>
            <a:pPr algn="just">
              <a:lnSpc>
                <a:spcPct val="200000"/>
              </a:lnSpc>
              <a:spcAft>
                <a:spcPts val="1200"/>
              </a:spcAft>
              <a:defRPr sz="1500">
                <a:solidFill>
                  <a:srgbClr val="475569"/>
                </a:solidFill>
                <a:latin typeface="Arial"/>
              </a:defRPr>
            </a:pPr>
            <a:r>
              <a:rPr lang="vi-VN" dirty="0"/>
              <a:t>• Kiểm tra điều kiện biên chặt chẽ: Hệ thống kiểm tra thời hạn nộp hồ sơ của tin tuyển dụng trước khi cho phép nộp CV; Ngăn chặn việc nộp trùng hồ sơ của cùng một ứng viên.</a:t>
            </a:r>
          </a:p>
          <a:p>
            <a:pPr algn="just">
              <a:lnSpc>
                <a:spcPct val="200000"/>
              </a:lnSpc>
              <a:spcAft>
                <a:spcPts val="1200"/>
              </a:spcAft>
              <a:defRPr sz="1500">
                <a:solidFill>
                  <a:srgbClr val="475569"/>
                </a:solidFill>
                <a:latin typeface="Arial"/>
              </a:defRPr>
            </a:pPr>
            <a:r>
              <a:rPr dirty="0"/>
              <a:t>• Database Transactions </a:t>
            </a:r>
            <a:r>
              <a:rPr dirty="0" err="1"/>
              <a:t>cô</a:t>
            </a:r>
            <a:r>
              <a:rPr dirty="0"/>
              <a:t> </a:t>
            </a:r>
            <a:r>
              <a:rPr dirty="0" err="1"/>
              <a:t>lập</a:t>
            </a:r>
            <a:r>
              <a:rPr dirty="0"/>
              <a:t>: </a:t>
            </a:r>
            <a:r>
              <a:rPr dirty="0" err="1"/>
              <a:t>Đảm</a:t>
            </a:r>
            <a:r>
              <a:rPr dirty="0"/>
              <a:t> </a:t>
            </a:r>
            <a:r>
              <a:rPr dirty="0" err="1"/>
              <a:t>bảo</a:t>
            </a:r>
            <a:r>
              <a:rPr dirty="0"/>
              <a:t> </a:t>
            </a:r>
            <a:r>
              <a:rPr dirty="0" err="1"/>
              <a:t>tính</a:t>
            </a:r>
            <a:r>
              <a:rPr dirty="0"/>
              <a:t> </a:t>
            </a:r>
            <a:r>
              <a:rPr dirty="0" err="1"/>
              <a:t>toàn</a:t>
            </a:r>
            <a:r>
              <a:rPr dirty="0"/>
              <a:t> </a:t>
            </a:r>
            <a:r>
              <a:rPr dirty="0" err="1"/>
              <a:t>vẹn</a:t>
            </a:r>
            <a:r>
              <a:rPr dirty="0"/>
              <a:t> </a:t>
            </a:r>
            <a:r>
              <a:rPr dirty="0" err="1"/>
              <a:t>dữ</a:t>
            </a:r>
            <a:r>
              <a:rPr dirty="0"/>
              <a:t> </a:t>
            </a:r>
            <a:r>
              <a:rPr dirty="0" err="1"/>
              <a:t>liệu</a:t>
            </a:r>
            <a:r>
              <a:rPr dirty="0"/>
              <a:t> ACID </a:t>
            </a:r>
            <a:r>
              <a:rPr dirty="0" err="1"/>
              <a:t>khi</a:t>
            </a:r>
            <a:r>
              <a:rPr dirty="0"/>
              <a:t> </a:t>
            </a:r>
            <a:r>
              <a:rPr dirty="0" err="1"/>
              <a:t>ghi</a:t>
            </a:r>
            <a:r>
              <a:rPr dirty="0"/>
              <a:t> </a:t>
            </a:r>
            <a:r>
              <a:rPr dirty="0" err="1"/>
              <a:t>nhận</a:t>
            </a:r>
            <a:r>
              <a:rPr dirty="0"/>
              <a:t> </a:t>
            </a:r>
            <a:r>
              <a:rPr dirty="0" err="1"/>
              <a:t>các</a:t>
            </a:r>
            <a:r>
              <a:rPr dirty="0"/>
              <a:t> </a:t>
            </a:r>
            <a:r>
              <a:rPr dirty="0" err="1"/>
              <a:t>hành</a:t>
            </a:r>
            <a:r>
              <a:rPr dirty="0"/>
              <a:t> </a:t>
            </a:r>
            <a:r>
              <a:rPr dirty="0" err="1"/>
              <a:t>động</a:t>
            </a:r>
            <a:r>
              <a:rPr dirty="0"/>
              <a:t> </a:t>
            </a:r>
            <a:r>
              <a:rPr dirty="0" err="1"/>
              <a:t>phức</a:t>
            </a:r>
            <a:r>
              <a:rPr dirty="0"/>
              <a:t> </a:t>
            </a:r>
            <a:r>
              <a:rPr dirty="0" err="1"/>
              <a:t>tạp</a:t>
            </a:r>
            <a:r>
              <a:rPr dirty="0"/>
              <a:t> </a:t>
            </a:r>
            <a:r>
              <a:rPr dirty="0" err="1"/>
              <a:t>ghi</a:t>
            </a:r>
            <a:r>
              <a:rPr dirty="0"/>
              <a:t> </a:t>
            </a:r>
            <a:r>
              <a:rPr dirty="0" err="1"/>
              <a:t>nhận</a:t>
            </a:r>
            <a:r>
              <a:rPr dirty="0"/>
              <a:t> </a:t>
            </a:r>
            <a:r>
              <a:rPr dirty="0" err="1"/>
              <a:t>dữ</a:t>
            </a:r>
            <a:r>
              <a:rPr dirty="0"/>
              <a:t> </a:t>
            </a:r>
            <a:r>
              <a:rPr dirty="0" err="1"/>
              <a:t>liệu</a:t>
            </a:r>
            <a:r>
              <a:rPr dirty="0"/>
              <a:t> </a:t>
            </a:r>
            <a:r>
              <a:rPr dirty="0" err="1"/>
              <a:t>nhiều</a:t>
            </a:r>
            <a:r>
              <a:rPr dirty="0"/>
              <a:t> </a:t>
            </a:r>
            <a:r>
              <a:rPr dirty="0" err="1"/>
              <a:t>bảng</a:t>
            </a:r>
            <a:r>
              <a:rPr dirty="0"/>
              <a:t> </a:t>
            </a:r>
            <a:r>
              <a:rPr dirty="0" err="1"/>
              <a:t>đồng</a:t>
            </a:r>
            <a:r>
              <a:rPr dirty="0"/>
              <a:t> </a:t>
            </a:r>
            <a:r>
              <a:rPr dirty="0" err="1"/>
              <a:t>thời</a:t>
            </a:r>
            <a:r>
              <a:rPr dirty="0"/>
              <a:t> (</a:t>
            </a:r>
            <a:r>
              <a:rPr dirty="0" err="1"/>
              <a:t>ví</a:t>
            </a:r>
            <a:r>
              <a:rPr dirty="0"/>
              <a:t> </a:t>
            </a:r>
            <a:r>
              <a:rPr dirty="0" err="1"/>
              <a:t>dụ</a:t>
            </a:r>
            <a:r>
              <a:rPr dirty="0"/>
              <a:t>: </a:t>
            </a:r>
            <a:r>
              <a:rPr dirty="0" err="1"/>
              <a:t>đăng</a:t>
            </a:r>
            <a:r>
              <a:rPr dirty="0"/>
              <a:t> </a:t>
            </a:r>
            <a:r>
              <a:rPr dirty="0" err="1"/>
              <a:t>ký</a:t>
            </a:r>
            <a:r>
              <a:rPr dirty="0"/>
              <a:t> </a:t>
            </a:r>
            <a:r>
              <a:rPr dirty="0" err="1"/>
              <a:t>doanh</a:t>
            </a:r>
            <a:r>
              <a:rPr dirty="0"/>
              <a:t> </a:t>
            </a:r>
            <a:r>
              <a:rPr dirty="0" err="1"/>
              <a:t>nghiệp</a:t>
            </a:r>
            <a:r>
              <a:rPr dirty="0"/>
              <a:t> </a:t>
            </a:r>
            <a:r>
              <a:rPr dirty="0" err="1"/>
              <a:t>hoặc</a:t>
            </a:r>
            <a:r>
              <a:rPr dirty="0"/>
              <a:t> </a:t>
            </a:r>
            <a:r>
              <a:rPr dirty="0" err="1"/>
              <a:t>cập</a:t>
            </a:r>
            <a:r>
              <a:rPr dirty="0"/>
              <a:t> </a:t>
            </a:r>
            <a:r>
              <a:rPr dirty="0" err="1"/>
              <a:t>nhật</a:t>
            </a:r>
            <a:r>
              <a:rPr dirty="0"/>
              <a:t> </a:t>
            </a:r>
            <a:r>
              <a:rPr dirty="0" err="1"/>
              <a:t>thông</a:t>
            </a:r>
            <a:r>
              <a:rPr dirty="0"/>
              <a:t> tin CV).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75569"/>
                </a:solidFill>
                <a:latin typeface="Arial"/>
              </a:defRPr>
            </a:pPr>
            <a:r>
              <a:rPr lang="en-US" dirty="0"/>
              <a:t>CHƯƠNG  4</a:t>
            </a:r>
            <a:r>
              <a:rPr dirty="0"/>
              <a:t>: TỔNG KẾT ĐỀ TÀI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rial"/>
              </a:defRPr>
            </a:pPr>
            <a:r>
              <a:t>Hạn Chế Hiện Tại &amp; Hướng Phát Triển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3803904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36320" y="2194560"/>
            <a:ext cx="4572000" cy="28777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1400">
                <a:solidFill>
                  <a:srgbClr val="475569"/>
                </a:solidFill>
                <a:latin typeface="Arial"/>
              </a:defRPr>
            </a:pPr>
            <a:r>
              <a:rPr dirty="0" err="1"/>
              <a:t>Chưa</a:t>
            </a:r>
            <a:r>
              <a:rPr dirty="0"/>
              <a:t> </a:t>
            </a:r>
            <a:r>
              <a:rPr dirty="0" err="1"/>
              <a:t>tích</a:t>
            </a:r>
            <a:r>
              <a:rPr dirty="0"/>
              <a:t> </a:t>
            </a:r>
            <a:r>
              <a:rPr dirty="0" err="1"/>
              <a:t>hợp</a:t>
            </a:r>
            <a:r>
              <a:rPr dirty="0"/>
              <a:t> </a:t>
            </a:r>
            <a:r>
              <a:rPr dirty="0" err="1"/>
              <a:t>họp</a:t>
            </a:r>
            <a:r>
              <a:rPr dirty="0"/>
              <a:t> </a:t>
            </a:r>
            <a:r>
              <a:rPr dirty="0" err="1"/>
              <a:t>trực</a:t>
            </a:r>
            <a:r>
              <a:rPr dirty="0"/>
              <a:t> </a:t>
            </a:r>
            <a:r>
              <a:rPr dirty="0" err="1"/>
              <a:t>tuyến</a:t>
            </a:r>
            <a:r>
              <a:rPr lang="en-US" dirty="0"/>
              <a:t> </a:t>
            </a:r>
            <a:r>
              <a:rPr dirty="0" err="1"/>
              <a:t>và</a:t>
            </a:r>
            <a:r>
              <a:rPr dirty="0"/>
              <a:t> </a:t>
            </a:r>
            <a:r>
              <a:rPr dirty="0" err="1"/>
              <a:t>liên</a:t>
            </a:r>
            <a:r>
              <a:rPr dirty="0"/>
              <a:t> </a:t>
            </a:r>
            <a:r>
              <a:rPr dirty="0" err="1"/>
              <a:t>kết</a:t>
            </a:r>
            <a:r>
              <a:rPr dirty="0"/>
              <a:t> </a:t>
            </a:r>
            <a:r>
              <a:rPr dirty="0" err="1"/>
              <a:t>đồng</a:t>
            </a:r>
            <a:r>
              <a:rPr dirty="0"/>
              <a:t> </a:t>
            </a:r>
            <a:r>
              <a:rPr dirty="0" err="1"/>
              <a:t>bộ</a:t>
            </a:r>
            <a:r>
              <a:rPr dirty="0"/>
              <a:t> </a:t>
            </a:r>
            <a:r>
              <a:rPr dirty="0" err="1"/>
              <a:t>lịch</a:t>
            </a:r>
            <a:r>
              <a:rPr dirty="0"/>
              <a:t> </a:t>
            </a:r>
            <a:r>
              <a:rPr dirty="0" err="1"/>
              <a:t>phỏng</a:t>
            </a:r>
            <a:r>
              <a:rPr dirty="0"/>
              <a:t> </a:t>
            </a:r>
            <a:r>
              <a:rPr dirty="0" err="1"/>
              <a:t>vấn</a:t>
            </a:r>
            <a:r>
              <a:rPr dirty="0"/>
              <a:t> Google Calendar.</a:t>
            </a:r>
          </a:p>
          <a:p>
            <a:pPr marL="285750" indent="-285750" algn="just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1400">
                <a:solidFill>
                  <a:srgbClr val="475569"/>
                </a:solidFill>
                <a:latin typeface="Arial"/>
              </a:defRPr>
            </a:pPr>
            <a:r>
              <a:rPr dirty="0" err="1"/>
              <a:t>Bộ</a:t>
            </a:r>
            <a:r>
              <a:rPr dirty="0"/>
              <a:t> </a:t>
            </a:r>
            <a:r>
              <a:rPr dirty="0" err="1"/>
              <a:t>kiểm</a:t>
            </a:r>
            <a:r>
              <a:rPr dirty="0"/>
              <a:t> </a:t>
            </a:r>
            <a:r>
              <a:rPr dirty="0" err="1"/>
              <a:t>thử</a:t>
            </a:r>
            <a:r>
              <a:rPr dirty="0"/>
              <a:t> </a:t>
            </a:r>
            <a:r>
              <a:rPr dirty="0" err="1"/>
              <a:t>tự</a:t>
            </a:r>
            <a:r>
              <a:rPr dirty="0"/>
              <a:t> </a:t>
            </a:r>
            <a:r>
              <a:rPr dirty="0" err="1"/>
              <a:t>động</a:t>
            </a:r>
            <a:r>
              <a:rPr dirty="0"/>
              <a:t> </a:t>
            </a:r>
            <a:r>
              <a:rPr dirty="0" err="1"/>
              <a:t>tập</a:t>
            </a:r>
            <a:r>
              <a:rPr dirty="0"/>
              <a:t> </a:t>
            </a:r>
            <a:r>
              <a:rPr dirty="0" err="1"/>
              <a:t>trung</a:t>
            </a:r>
            <a:r>
              <a:rPr dirty="0"/>
              <a:t> bao </a:t>
            </a:r>
            <a:r>
              <a:rPr dirty="0" err="1"/>
              <a:t>phủ</a:t>
            </a:r>
            <a:r>
              <a:rPr dirty="0"/>
              <a:t> </a:t>
            </a:r>
            <a:r>
              <a:rPr dirty="0" err="1"/>
              <a:t>các</a:t>
            </a:r>
            <a:r>
              <a:rPr dirty="0"/>
              <a:t> </a:t>
            </a:r>
            <a:r>
              <a:rPr dirty="0" err="1"/>
              <a:t>nghiệp</a:t>
            </a:r>
            <a:r>
              <a:rPr dirty="0"/>
              <a:t> </a:t>
            </a:r>
            <a:r>
              <a:rPr dirty="0" err="1"/>
              <a:t>vụ</a:t>
            </a:r>
            <a:r>
              <a:rPr dirty="0"/>
              <a:t> API </a:t>
            </a:r>
            <a:r>
              <a:rPr dirty="0" err="1"/>
              <a:t>cốt</a:t>
            </a:r>
            <a:r>
              <a:rPr dirty="0"/>
              <a:t> </a:t>
            </a:r>
            <a:r>
              <a:rPr dirty="0" err="1"/>
              <a:t>lõi</a:t>
            </a:r>
            <a:r>
              <a:rPr dirty="0"/>
              <a:t> </a:t>
            </a:r>
            <a:r>
              <a:rPr dirty="0" err="1"/>
              <a:t>nhất</a:t>
            </a:r>
            <a:r>
              <a:rPr dirty="0"/>
              <a:t>, </a:t>
            </a:r>
            <a:r>
              <a:rPr dirty="0" err="1"/>
              <a:t>cần</a:t>
            </a:r>
            <a:r>
              <a:rPr dirty="0"/>
              <a:t> </a:t>
            </a:r>
            <a:r>
              <a:rPr dirty="0" err="1"/>
              <a:t>tăng</a:t>
            </a:r>
            <a:r>
              <a:rPr dirty="0"/>
              <a:t> </a:t>
            </a:r>
            <a:r>
              <a:rPr dirty="0" err="1"/>
              <a:t>tỉ</a:t>
            </a:r>
            <a:r>
              <a:rPr dirty="0"/>
              <a:t> </a:t>
            </a:r>
            <a:r>
              <a:rPr dirty="0" err="1"/>
              <a:t>lệ</a:t>
            </a:r>
            <a:r>
              <a:rPr dirty="0"/>
              <a:t> bao </a:t>
            </a:r>
            <a:r>
              <a:rPr dirty="0" err="1"/>
              <a:t>phủ</a:t>
            </a:r>
            <a:r>
              <a:rPr lang="en-US" dirty="0"/>
              <a:t>.</a:t>
            </a:r>
          </a:p>
          <a:p>
            <a:pPr marL="285750" indent="-285750" algn="just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1400">
                <a:solidFill>
                  <a:srgbClr val="475569"/>
                </a:solidFill>
                <a:latin typeface="Arial"/>
              </a:defRPr>
            </a:pPr>
            <a:r>
              <a:rPr lang="vi-VN" dirty="0"/>
              <a:t>Công cụ gợi ý việc làm hiện tại áp dụng luật cứng (Rule-based), chưa khai thác mô hình trí tuệ nhân tạo (AI/ML).</a:t>
            </a:r>
          </a:p>
          <a:p>
            <a:pPr>
              <a:spcAft>
                <a:spcPts val="800"/>
              </a:spcAft>
              <a:defRPr sz="1400">
                <a:solidFill>
                  <a:srgbClr val="475569"/>
                </a:solidFill>
                <a:latin typeface="Arial"/>
              </a:defRPr>
            </a:pPr>
            <a:endParaRPr dirty="0"/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5120640" cy="3803904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0" y="2194560"/>
            <a:ext cx="4572000" cy="2339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spcAft>
                <a:spcPts val="800"/>
              </a:spcAft>
              <a:buFont typeface="Arial" panose="020B0604020202020204" pitchFamily="34" charset="0"/>
              <a:buChar char="•"/>
              <a:defRPr sz="1400">
                <a:solidFill>
                  <a:srgbClr val="475569"/>
                </a:solidFill>
                <a:latin typeface="Arial"/>
              </a:defRPr>
            </a:pPr>
            <a:r>
              <a:rPr lang="vi-VN" dirty="0"/>
              <a:t>Tích hợp các dịch vụ bên thứ ba: Gọi video trực tuyến, SMS/Zalo thông báo và đồng bộ hóa lịch hẹn.</a:t>
            </a:r>
          </a:p>
          <a:p>
            <a:pPr marL="285750" indent="-285750" algn="just">
              <a:spcAft>
                <a:spcPts val="800"/>
              </a:spcAft>
              <a:buFont typeface="Arial" panose="020B0604020202020204" pitchFamily="34" charset="0"/>
              <a:buChar char="•"/>
              <a:defRPr sz="1400">
                <a:solidFill>
                  <a:srgbClr val="475569"/>
                </a:solidFill>
                <a:latin typeface="Arial"/>
              </a:defRPr>
            </a:pPr>
            <a:r>
              <a:rPr lang="vi-VN" dirty="0"/>
              <a:t>Đóng gói hệ thống bằng Docker, thiết lập quy trình tích hợp liên tục CI/CD và triển khai lên hạ tầng AWS Cloud.</a:t>
            </a:r>
            <a:endParaRPr lang="en-US" dirty="0"/>
          </a:p>
          <a:p>
            <a:pPr marL="285750" indent="-285750" algn="just">
              <a:spcAft>
                <a:spcPts val="800"/>
              </a:spcAft>
              <a:buFont typeface="Arial" panose="020B0604020202020204" pitchFamily="34" charset="0"/>
              <a:buChar char="•"/>
              <a:defRPr sz="1400">
                <a:solidFill>
                  <a:srgbClr val="475569"/>
                </a:solidFill>
                <a:latin typeface="Arial"/>
              </a:defRPr>
            </a:pPr>
            <a:r>
              <a:rPr lang="vi-VN" dirty="0"/>
              <a:t>Ứng dụng thuật toán Machine Learning xếp hạng mức độ tương thích giữa CV và yêu cầu việc làm.</a:t>
            </a:r>
          </a:p>
          <a:p>
            <a:pPr>
              <a:spcAft>
                <a:spcPts val="800"/>
              </a:spcAft>
              <a:defRPr sz="1400">
                <a:solidFill>
                  <a:srgbClr val="475569"/>
                </a:solidFill>
                <a:latin typeface="Arial"/>
              </a:defRPr>
            </a:pPr>
            <a:endParaRPr lang="vi-VN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</TotalTime>
  <Words>1576</Words>
  <Application>Microsoft Office PowerPoint</Application>
  <PresentationFormat>Widescreen</PresentationFormat>
  <Paragraphs>112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DƯƠNG ĐỨC MẠNH</cp:lastModifiedBy>
  <cp:revision>5</cp:revision>
  <dcterms:created xsi:type="dcterms:W3CDTF">2013-01-27T09:14:16Z</dcterms:created>
  <dcterms:modified xsi:type="dcterms:W3CDTF">2026-06-10T16:56:01Z</dcterms:modified>
  <cp:category/>
</cp:coreProperties>
</file>